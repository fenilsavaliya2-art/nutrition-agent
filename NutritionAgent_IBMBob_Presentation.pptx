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rels" ContentType="application/vnd.openxmlformats-package.relationships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c1874863ca9f448a" /><Relationship Type="http://schemas.openxmlformats.org/package/2006/relationships/metadata/core-properties" Target="/docProps/core.xml" Id="R675db124bbb54024" /><Relationship Type="http://schemas.openxmlformats.org/officeDocument/2006/relationships/extended-properties" Target="/docProps/app.xml" Id="R9547b7b8f243468a" /><Relationship Type="http://schemas.openxmlformats.org/officeDocument/2006/relationships/custom-properties" Target="/docProps/custom.xml" Id="Radf521a6d9c2495a" /></Relationships>
</file>

<file path=ppt/presentation.xml><?xml version="1.0" encoding="utf-8"?>
<p:presentation xmlns:r="http://schemas.openxmlformats.org/officeDocument/2006/relationships" xmlns:p="http://schemas.openxmlformats.org/presentationml/2006/main">
  <p:sldMasterIdLst>
    <p:sldMasterId xmlns:r="http://schemas.openxmlformats.org/officeDocument/2006/relationships" id="2147483648" r:id="rId1"/>
  </p:sldMasterIdLst>
  <p:notesMasterIdLst>
    <p:notesMasterId r:id="R9f0c4da708ec45f3"/>
  </p:notesMasterIdLst>
  <p:sldIdLst>
    <p:sldId id="256" r:id="R8aa2918a09c4467e"/>
    <p:sldId id="257" r:id="R74471c769a574f9d"/>
    <p:sldId id="258" r:id="Rfb516e663928447f"/>
    <p:sldId id="259" r:id="Rf9450664f709479e"/>
    <p:sldId id="260" r:id="Rfcd5ad488201414c"/>
    <p:sldId id="261" r:id="Rb4bece731c174696"/>
    <p:sldId id="262" r:id="R717fe7960a744865"/>
    <p:sldId id="263" r:id="R6a6695f0bd9c4953"/>
    <p:sldId id="264" r:id="Rac9dc5e2face4f67"/>
    <p:sldId id="265" r:id="Rb2a23b53edfb4354"/>
    <p:sldId id="266" r:id="Ra5d713609ed24fff"/>
    <p:sldId id="267" r:id="Re126a9b0fed64962"/>
    <p:sldId id="268" r:id="Rb38403ad50f64a84"/>
    <p:sldId id="269" r:id="Rbd619c5815ec4159"/>
  </p:sldIdLst>
  <p:sldSz cx="12192000" cy="6858000"/>
  <p:notesSz cx="6858000" cy="9144000"/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Relationship Type="http://schemas.openxmlformats.org/officeDocument/2006/relationships/theme" Target="/ppt/theme/theme1.xml" Id="rId2" /><Relationship Type="http://schemas.openxmlformats.org/officeDocument/2006/relationships/slide" Target="/ppt/slides/slide1.xml" Id="R8aa2918a09c4467e" /><Relationship Type="http://schemas.openxmlformats.org/officeDocument/2006/relationships/notesMaster" Target="/ppt/notesMasters/notesMaster1.xml" Id="R9f0c4da708ec45f3" /><Relationship Type="http://schemas.openxmlformats.org/officeDocument/2006/relationships/slide" Target="/ppt/slides/slide2.xml" Id="R74471c769a574f9d" /><Relationship Type="http://schemas.openxmlformats.org/officeDocument/2006/relationships/slide" Target="/ppt/slides/slide3.xml" Id="Rfb516e663928447f" /><Relationship Type="http://schemas.openxmlformats.org/officeDocument/2006/relationships/slide" Target="/ppt/slides/slide4.xml" Id="Rf9450664f709479e" /><Relationship Type="http://schemas.openxmlformats.org/officeDocument/2006/relationships/slide" Target="/ppt/slides/slide5.xml" Id="Rfcd5ad488201414c" /><Relationship Type="http://schemas.openxmlformats.org/officeDocument/2006/relationships/slide" Target="/ppt/slides/slide6.xml" Id="Rb4bece731c174696" /><Relationship Type="http://schemas.openxmlformats.org/officeDocument/2006/relationships/slide" Target="/ppt/slides/slide7.xml" Id="R717fe7960a744865" /><Relationship Type="http://schemas.openxmlformats.org/officeDocument/2006/relationships/slide" Target="/ppt/slides/slide8.xml" Id="R6a6695f0bd9c4953" /><Relationship Type="http://schemas.openxmlformats.org/officeDocument/2006/relationships/slide" Target="/ppt/slides/slide9.xml" Id="Rac9dc5e2face4f67" /><Relationship Type="http://schemas.openxmlformats.org/officeDocument/2006/relationships/slide" Target="/ppt/slides/slide10.xml" Id="Rb2a23b53edfb4354" /><Relationship Type="http://schemas.openxmlformats.org/officeDocument/2006/relationships/slide" Target="/ppt/slides/slide11.xml" Id="Ra5d713609ed24fff" /><Relationship Type="http://schemas.openxmlformats.org/officeDocument/2006/relationships/slide" Target="/ppt/slides/slide12.xml" Id="Re126a9b0fed64962" /><Relationship Type="http://schemas.openxmlformats.org/officeDocument/2006/relationships/slide" Target="/ppt/slides/slide13.xml" Id="Rb38403ad50f64a84" /><Relationship Type="http://schemas.openxmlformats.org/officeDocument/2006/relationships/slide" Target="/ppt/slides/slide14.xml" Id="Rbd619c5815ec415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d92baa5f164541e2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fld id="{B1E4B0A2-5C8E-4E5F-9C1D-2F3A4B5C6D71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25717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3429000"/>
            <a:ext cx="5486400" cy="4114800"/>
          </a:xfrm>
          <a:prstGeom prst="rect">
            <a:avLst/>
          </a:prstGeom>
        </p:spPr>
        <p:txBody>
          <a:bodyPr vert="horz" lIns="91440" tIns="45720" rIns="91440" bIns="4572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fld id="{B1E4B0A2-5C8E-4E5F-9C1D-2F3A4B5C6D72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>
          <a:solidFill>
            <a:schemeClr val="phClr"/>
          </a:solidFill>
        </a:ln>
        <a:ln w="12700" cap="flat">
          <a:solidFill>
            <a:schemeClr val="phClr"/>
          </a:solidFill>
        </a:ln>
        <a:ln w="19050" cap="flat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2468f78a63e043ef" /><Relationship Type="http://schemas.openxmlformats.org/officeDocument/2006/relationships/slide" Target="/ppt/slides/slide1.xml" Id="R22bb4ca1baae498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a01d3a72fab44af7" /><Relationship Type="http://schemas.openxmlformats.org/officeDocument/2006/relationships/slide" Target="/ppt/slides/slide2.xml" Id="R52e431978ff8461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a5f89921da064254" /><Relationship Type="http://schemas.openxmlformats.org/officeDocument/2006/relationships/slide" Target="/ppt/slides/slide3.xml" Id="Rfc435e902e71426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23e1a367770e43d9" /><Relationship Type="http://schemas.openxmlformats.org/officeDocument/2006/relationships/slide" Target="/ppt/slides/slide4.xml" Id="R4de00724607f4e3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b1c9be7465954407" /><Relationship Type="http://schemas.openxmlformats.org/officeDocument/2006/relationships/slide" Target="/ppt/slides/slide5.xml" Id="R8d88a907833546e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3b073e02c9784505" /><Relationship Type="http://schemas.openxmlformats.org/officeDocument/2006/relationships/slide" Target="/ppt/slides/slide6.xml" Id="R4f3f92a6b32d4b5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91c7742df30f460f" /><Relationship Type="http://schemas.openxmlformats.org/officeDocument/2006/relationships/slide" Target="/ppt/slides/slide7.xml" Id="Ra41870594a3f4c3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6708b9a2a8f74c12" /><Relationship Type="http://schemas.openxmlformats.org/officeDocument/2006/relationships/slide" Target="/ppt/slides/slide8.xml" Id="R252e4b68b093430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58c68e8834a74e3f" /><Relationship Type="http://schemas.openxmlformats.org/officeDocument/2006/relationships/slide" Target="/ppt/slides/slide9.xml" Id="R9794cdbea4e5494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5c0e1b66224f4cad" /><Relationship Type="http://schemas.openxmlformats.org/officeDocument/2006/relationships/slide" Target="/ppt/slides/slide10.xml" Id="R85c2e2a648074f92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17688c7b3ed64dcd" /><Relationship Type="http://schemas.openxmlformats.org/officeDocument/2006/relationships/slide" Target="/ppt/slides/slide11.xml" Id="R77ecbdba3c764d5c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0c0178d8600a4967" /><Relationship Type="http://schemas.openxmlformats.org/officeDocument/2006/relationships/slide" Target="/ppt/slides/slide12.xml" Id="R4fb8588565c642ff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314590bd56a14094" /><Relationship Type="http://schemas.openxmlformats.org/officeDocument/2006/relationships/slide" Target="/ppt/slides/slide13.xml" Id="Rbfb9e5b3332743bc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73d7ed0f55d84514" /><Relationship Type="http://schemas.openxmlformats.org/officeDocument/2006/relationships/slide" Target="/ppt/slides/slide14.xml" Id="R52e943d3ac5f488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Title slide: Nutrition Agentic AI powered by IBM Granite LLM. This project implements a full agentic pipeline for personalized, medically-aware nutrition planning.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Project Overview: This slide summarizes the key capabilities — personalized planning, IBM Granite integration, medical condition awareness, ethics guardrails, chat assistant, and Markdown output.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Architecture: Three-tier: Browser frontend talks to Flask backend via REST API. Flask calls the 6-agent pipeline in agent.py. All content flows through the guardrails layer. IBM Granite LLM is called at agent 5. Output is saved as .md files.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6-Phase Pipeline: Phase 1 validates profile, Phase 2/2b does medical &amp; caloric analysis, Phase 3 builds 7-day meal plan, Phase 4 calls IBM Granite LLM, Phase 5 runs guardrails, Phase 6 formats and saves the output.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Tech Stack: 6 technology pillars — IBM Granite LLM AI layer, Flask Python backend, HTML/CSS/JS frontend, Markdown file storage, Git deployment, and guardrails/ethics safety layer.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Key Features: 8 main features — user profile collection, medical condition adaptation, 7-day meal planning, chat assistant, auto-save markdown, IBM Granite LLM, nutritional targets, and dark theme responsive UI.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Sample output from the saved demo plan file. Shows actual data from nutrition_plan_demo_user_sample.md. Profile: Demo User, 35yo, Vegetarian, Diabetic, Mumbai. Nutritional targets and first 2 days of 7-day plan shown.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Nutrition Database: Built-in database for Vegetarian, Non-Vegetarian, and Vegan. Medical adaptations for Diabetes and Blood Pressure with specific avoid/prefer lists. Caloric needs by age using Mifflin-St Jeor.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Guardrails: Three layers of safety. HAM principles guide all responses. 15+ blocked topics automatically rejected. Input sanitization prevents prompt injection. Mandatory medical disclaimer on every output.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UI Simulation: The web app is a dark-theme single-page application. Left panel has the profile form. Right panel has 3 tabs: Plan (shows generated plan + macros), Chat (NutriGuide AI Q&amp;A), and Saved Plans (list of .md files).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REST API: 5 endpoints. POST /api/generate-plan is the main endpoint. POST /api/query for chat. GET /api/plans lists saved plans. GET /api/plans/&lt;filename&gt; retrieves content. GET /api/health for monitoring.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Setup Guide: Two options — Windows one-click bat file, or manual clone/venv/install. IBM watsonx.ai credentials via .env file. App fully functional in demo mode without credentials. run_nutrition_ai.bat handles everything automatically.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File Structure: Root has launchers, README, requirements, .gitignore, LICENSE. nutrition_ai/ folder contains app.py (Flask), agent.py (6-agent pipeline), guardrails.py (ethics), templates/index.html (UI), saved_plans/ (output .md files).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Conclusion: 7 key takeaways. GitHub repo link. Mandatory medical disclaimer. Built with IBM Granite LLM, watsonx.ai, Flask, Python.</a:t>
            </a:r>
          </a:p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c5c3be63c014d91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2259f64e46543ed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c047ea66ed6475a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9ae4a4b3c61456a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213b840702f4b33" /></Relationships>
</file>

<file path=ppt/slideLayouts/slideLayout1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/>
    </p:spTree>
  </p:cSld>
</p:sldLayout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ctrTitle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Subtitle"/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3.xml><?xml version="1.0" encoding="utf-8"?>
<p:sldLayout xmlns:p="http://schemas.openxmlformats.org/presentationml/2006/main" type="objTx">
  <p:cSld name="Title and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ColTx">
  <p:cSld name="Two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 Left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4" name="Content Right"/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5.xml><?xml version="1.0" encoding="utf-8"?>
<p:sldLayout xmlns:p="http://schemas.openxmlformats.org/presentationml/2006/main" type="titleOnly">
  <p:cSld name="Title Only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Relationship Type="http://schemas.openxmlformats.org/officeDocument/2006/relationships/theme" Target="/ppt/theme/theme1.xml" Id="R734af1c29a084e39" /><Relationship Type="http://schemas.openxmlformats.org/officeDocument/2006/relationships/slideLayout" Target="/ppt/slideLayouts/slideLayout2.xml" Id="rId2" /><Relationship Type="http://schemas.openxmlformats.org/officeDocument/2006/relationships/slideLayout" Target="/ppt/slideLayouts/slideLayout3.xml" Id="rId3" /><Relationship Type="http://schemas.openxmlformats.org/officeDocument/2006/relationships/slideLayout" Target="/ppt/slideLayouts/slideLayout4.xml" Id="rId4" /><Relationship Type="http://schemas.openxmlformats.org/officeDocument/2006/relationships/slideLayout" Target="/ppt/slideLayouts/slideLayout5.xml" Id="rId5" /></Relationships>
</file>

<file path=ppt/slideMasters/slideMaster1.xml><?xml version="1.0" encoding="utf-8"?>
<p:sldMaster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Id1"/>
    <p:sldLayoutId xmlns:r="http://schemas.openxmlformats.org/officeDocument/2006/relationships" id="2147483650" r:id="rId2"/>
    <p:sldLayoutId xmlns:r="http://schemas.openxmlformats.org/officeDocument/2006/relationships" id="2147483651" r:id="rId3"/>
    <p:sldLayoutId xmlns:r="http://schemas.openxmlformats.org/officeDocument/2006/relationships" id="2147483652" r:id="rId4"/>
    <p:sldLayoutId xmlns:r="http://schemas.openxmlformats.org/officeDocument/2006/relationships" id="2147483653" r:id="rId5"/>
  </p:sldLayoutIdLst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b5e06ec7ed40d6" /><Relationship Type="http://schemas.openxmlformats.org/officeDocument/2006/relationships/notesSlide" Target="/ppt/notesSlides/notesSlide1.xml" Id="R02e5049a7f4e434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e9cf81e5b545f0" /><Relationship Type="http://schemas.openxmlformats.org/officeDocument/2006/relationships/notesSlide" Target="/ppt/notesSlides/notesSlide2.xml" Id="Rdfd42e2c705c42e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423e271fbf4d03" /><Relationship Type="http://schemas.openxmlformats.org/officeDocument/2006/relationships/notesSlide" Target="/ppt/notesSlides/notesSlide3.xml" Id="Rdfc4d082b60244e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54d2543f3d40c5" /><Relationship Type="http://schemas.openxmlformats.org/officeDocument/2006/relationships/notesSlide" Target="/ppt/notesSlides/notesSlide4.xml" Id="Rfc49fa7d78d049d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4d236254b548ad" /><Relationship Type="http://schemas.openxmlformats.org/officeDocument/2006/relationships/notesSlide" Target="/ppt/notesSlides/notesSlide5.xml" Id="Ref971e471a9c422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1277adf17d4ba4" /><Relationship Type="http://schemas.openxmlformats.org/officeDocument/2006/relationships/notesSlide" Target="/ppt/notesSlides/notesSlide6.xml" Id="R42c00806fdcc458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663cf7a2e84490" /><Relationship Type="http://schemas.openxmlformats.org/officeDocument/2006/relationships/notesSlide" Target="/ppt/notesSlides/notesSlide7.xml" Id="R21a9b6317ef84be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bf6b0ccf21945d4" /><Relationship Type="http://schemas.openxmlformats.org/officeDocument/2006/relationships/notesSlide" Target="/ppt/notesSlides/notesSlide8.xml" Id="R12012e76642e4f7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996c9ddddc40b8" /><Relationship Type="http://schemas.openxmlformats.org/officeDocument/2006/relationships/notesSlide" Target="/ppt/notesSlides/notesSlide9.xml" Id="Rd37ab9f221494fb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71c71c695d4364" /><Relationship Type="http://schemas.openxmlformats.org/officeDocument/2006/relationships/notesSlide" Target="/ppt/notesSlides/notesSlide10.xml" Id="R25b74ad447934a26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a2bd96ac6347bc" /><Relationship Type="http://schemas.openxmlformats.org/officeDocument/2006/relationships/notesSlide" Target="/ppt/notesSlides/notesSlide11.xml" Id="R7ae34809a36143bd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2b3ef854d944e0" /><Relationship Type="http://schemas.openxmlformats.org/officeDocument/2006/relationships/notesSlide" Target="/ppt/notesSlides/notesSlide12.xml" Id="Rb158b8f8b76c461c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aacf03da794b1d" /><Relationship Type="http://schemas.openxmlformats.org/officeDocument/2006/relationships/notesSlide" Target="/ppt/notesSlides/notesSlide13.xml" Id="R123accbfb0b446af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0bd889cb7c41a3" /><Relationship Type="http://schemas.openxmlformats.org/officeDocument/2006/relationships/notesSlide" Target="/ppt/notesSlides/notesSlide14.xml" Id="R4a8f342ef39748f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A2A4A"/>
        </a:solidFill>
      </p:bgPr>
    </p:bg>
    <p:spTree>
      <p:nvGrpSpPr>
        <p:cNvPr id="1" name=""/>
        <p:cNvGrpSpPr/>
        <p:nvPr/>
      </p:nvGrpSpPr>
      <p:grpSpPr/>
      <p:sp>
        <p:nvSpPr>
          <p:cNvPr id="100000" name="TopAccent"/>
          <p:cNvSpPr txBox="1"/>
          <p:nvPr/>
        </p:nvSpPr>
        <p:spPr>
          <a:xfrm xmlns:a="http://schemas.openxmlformats.org/drawingml/2006/main">
            <a:off x="0" y="0"/>
            <a:ext cx="12193200" cy="14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6B3C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 sz="800">
              <a:solidFill>
                <a:srgbClr val="1A6B3C"/>
              </a:solidFill>
            </a:endParaRPr>
          </a:p>
        </p:txBody>
      </p:sp>
      <p:sp>
        <p:nvSpPr>
          <p:cNvPr id="100001" name="MainTitle"/>
          <p:cNvSpPr txBox="1"/>
          <p:nvPr/>
        </p:nvSpPr>
        <p:spPr>
          <a:xfrm xmlns:a="http://schemas.openxmlformats.org/drawingml/2006/main">
            <a:off x="720000" y="1080000"/>
            <a:ext cx="10800000" cy="12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5200" b="1">
                <a:solidFill>
                  <a:srgbClr val="FFFFFF"/>
                </a:solidFill>
                <a:latin typeface="Calibri"/>
                <a:ea typeface="Calibri"/>
              </a:rPr>
              <a:t>Nutrition Agentic AI</a:t>
            </a:r>
          </a:p>
        </p:txBody>
      </p:sp>
      <p:sp>
        <p:nvSpPr>
          <p:cNvPr id="100002" name="Subtitle"/>
          <p:cNvSpPr txBox="1"/>
          <p:nvPr/>
        </p:nvSpPr>
        <p:spPr>
          <a:xfrm xmlns:a="http://schemas.openxmlformats.org/drawingml/2006/main">
            <a:off x="720000" y="2448000"/>
            <a:ext cx="10800000" cy="54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400" b="0">
                <a:solidFill>
                  <a:srgbClr val="7EC8E3"/>
                </a:solidFill>
                <a:latin typeface="Calibri"/>
                <a:ea typeface="Calibri"/>
              </a:rPr>
              <a:t>Powered by IBM Granite LLM &amp; IBM watsonx.ai</a:t>
            </a:r>
          </a:p>
        </p:txBody>
      </p:sp>
      <p:sp>
        <p:nvSpPr>
          <p:cNvPr id="100003" name="TagLine"/>
          <p:cNvSpPr txBox="1"/>
          <p:nvPr/>
        </p:nvSpPr>
        <p:spPr>
          <a:xfrm xmlns:a="http://schemas.openxmlformats.org/drawingml/2006/main">
            <a:off x="720000" y="3060000"/>
            <a:ext cx="10800000" cy="3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600" b="0">
                <a:solidFill>
                  <a:srgbClr val="B0C4D8"/>
                </a:solidFill>
                <a:latin typeface="Calibri"/>
                <a:ea typeface="Calibri"/>
              </a:rPr>
              <a:t>Personalized · Medically-Aware · Ethically Guided Nutrition Planning</a:t>
            </a:r>
          </a:p>
        </p:txBody>
      </p:sp>
      <p:sp>
        <p:nvSpPr>
          <p:cNvPr id="100004" name="Divider"/>
          <p:cNvSpPr txBox="1"/>
          <p:nvPr/>
        </p:nvSpPr>
        <p:spPr>
          <a:xfrm xmlns:a="http://schemas.openxmlformats.org/drawingml/2006/main">
            <a:off x="720000" y="3600000"/>
            <a:ext cx="4320000" cy="3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6B3C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 sz="800">
              <a:solidFill>
                <a:srgbClr val="1A6B3C"/>
              </a:solidFill>
            </a:endParaRPr>
          </a:p>
        </p:txBody>
      </p:sp>
      <p:sp>
        <p:nvSpPr>
          <p:cNvPr id="100005" name="Tech"/>
          <p:cNvSpPr txBox="1"/>
          <p:nvPr/>
        </p:nvSpPr>
        <p:spPr>
          <a:xfrm xmlns:a="http://schemas.openxmlformats.org/drawingml/2006/main">
            <a:off x="720000" y="3780000"/>
            <a:ext cx="10800000" cy="28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 b="0">
                <a:solidFill>
                  <a:srgbClr val="7EC8E3"/>
                </a:solidFill>
                <a:latin typeface="Calibri"/>
                <a:ea typeface="Calibri"/>
              </a:rPr>
              <a:t>Flask  |  Python 3.9+  |  IBM Granite-13b-Instruct  |  REST API</a:t>
            </a:r>
          </a:p>
        </p:txBody>
      </p:sp>
      <p:sp>
        <p:nvSpPr>
          <p:cNvPr id="100006" name="BottomBar"/>
          <p:cNvSpPr txBox="1"/>
          <p:nvPr/>
        </p:nvSpPr>
        <p:spPr>
          <a:xfrm xmlns:a="http://schemas.openxmlformats.org/drawingml/2006/main">
            <a:off x="0" y="6660000"/>
            <a:ext cx="12193200" cy="18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6B3C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 sz="800">
              <a:solidFill>
                <a:srgbClr val="1A6B3C"/>
              </a:solidFill>
            </a:endParaRPr>
          </a:p>
        </p:txBody>
      </p:sp>
    </p:spTree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100007" name="HeaderBar"/>
          <p:cNvSpPr txBox="1"/>
          <p:nvPr/>
        </p:nvSpPr>
        <p:spPr>
          <a:xfrm xmlns:a="http://schemas.openxmlformats.org/drawingml/2006/main">
            <a:off x="0" y="0"/>
            <a:ext cx="12193200" cy="72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2A4A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 sz="800">
              <a:solidFill>
                <a:srgbClr val="0A2A4A"/>
              </a:solidFill>
            </a:endParaRPr>
          </a:p>
        </p:txBody>
      </p:sp>
      <p:sp>
        <p:nvSpPr>
          <p:cNvPr id="100008" name="SlideTitle"/>
          <p:cNvSpPr txBox="1"/>
          <p:nvPr/>
        </p:nvSpPr>
        <p:spPr>
          <a:xfrm xmlns:a="http://schemas.openxmlformats.org/drawingml/2006/main">
            <a:off x="540000" y="108000"/>
            <a:ext cx="10080000" cy="50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3200" b="1">
                <a:solidFill>
                  <a:srgbClr val="FFFFFF"/>
                </a:solidFill>
                <a:latin typeface="Calibri"/>
                <a:ea typeface="Calibri"/>
              </a:rPr>
              <a:t>Project Overview</a:t>
            </a:r>
          </a:p>
        </p:txBody>
      </p:sp>
      <p:sp>
        <p:nvSpPr>
          <p:cNvPr id="100009" name="SlideNum"/>
          <p:cNvSpPr txBox="1"/>
          <p:nvPr/>
        </p:nvSpPr>
        <p:spPr>
          <a:xfrm xmlns:a="http://schemas.openxmlformats.org/drawingml/2006/main">
            <a:off x="10800000" y="144000"/>
            <a:ext cx="720000" cy="3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000" b="0">
                <a:solidFill>
                  <a:srgbClr val="7EC8E3"/>
                </a:solidFill>
                <a:latin typeface="Calibri"/>
                <a:ea typeface="Calibri"/>
              </a:rPr>
              <a:t>2</a:t>
            </a:r>
          </a:p>
        </p:txBody>
      </p:sp>
      <p:sp>
        <p:nvSpPr>
          <p:cNvPr id="100010" name="WhatIs"/>
          <p:cNvSpPr txBox="1"/>
          <p:nvPr/>
        </p:nvSpPr>
        <p:spPr>
          <a:xfrm xmlns:a="http://schemas.openxmlformats.org/drawingml/2006/main">
            <a:off x="540000" y="900000"/>
            <a:ext cx="9000000" cy="3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200" b="1">
                <a:solidFill>
                  <a:srgbClr val="0A2A4A"/>
                </a:solidFill>
                <a:latin typeface="Calibri"/>
                <a:ea typeface="Calibri"/>
              </a:rPr>
              <a:t>What is Nutrition Agentic AI?</a:t>
            </a:r>
          </a:p>
        </p:txBody>
      </p:sp>
      <p:sp>
        <p:nvSpPr>
          <p:cNvPr id="100011" name="Desc"/>
          <p:cNvSpPr txBox="1"/>
          <p:nvPr/>
        </p:nvSpPr>
        <p:spPr>
          <a:xfrm xmlns:a="http://schemas.openxmlformats.org/drawingml/2006/main">
            <a:off x="540000" y="1260000"/>
            <a:ext cx="10800000" cy="90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700" b="0">
                <a:solidFill>
                  <a:srgbClr val="333333"/>
                </a:solidFill>
                <a:latin typeface="Calibri"/>
                <a:ea typeface="Calibri"/>
              </a:rPr>
              <a:t>A web-based Agentic AI application that generates personalized, medically-aware 7-day nutrition plans using IBM Granite-13b-Instruct LLM — with built-in AI ethics, safety guardrails, a real-time chat assistant, and auto-saved Markdown output.</a:t>
            </a:r>
          </a:p>
        </p:txBody>
      </p:sp>
      <p:sp>
        <p:nvSpPr>
          <p:cNvPr id="100012" name="KeyBox1"/>
          <p:cNvSpPr txBox="1"/>
          <p:nvPr/>
        </p:nvSpPr>
        <p:spPr>
          <a:xfrm xmlns:a="http://schemas.openxmlformats.org/drawingml/2006/main">
            <a:off x="540000" y="2340000"/>
            <a:ext cx="3420000" cy="108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4FD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500" b="0">
                <a:solidFill>
                  <a:srgbClr val="0A2A4A"/>
                </a:solidFill>
                <a:latin typeface="Calibri"/>
                <a:ea typeface="Calibri"/>
              </a:rPr>
              <a:t>Personalized Plans</a:t>
            </a:r>
          </a:p>
          <a:p xmlns:a="http://schemas.openxmlformats.org/drawingml/2006/main">
            <a:r>
              <a:rPr lang="en-US" sz="1500" b="0">
                <a:solidFill>
                  <a:srgbClr val="0A2A4A"/>
                </a:solidFill>
                <a:latin typeface="Calibri"/>
                <a:ea typeface="Calibri"/>
              </a:rPr>
              <a:t>Adapts to age, diet type, medical history, city &amp; country</a:t>
            </a:r>
          </a:p>
        </p:txBody>
      </p:sp>
      <p:sp>
        <p:nvSpPr>
          <p:cNvPr id="100013" name="KeyBox2"/>
          <p:cNvSpPr txBox="1"/>
          <p:nvPr/>
        </p:nvSpPr>
        <p:spPr>
          <a:xfrm xmlns:a="http://schemas.openxmlformats.org/drawingml/2006/main">
            <a:off x="4320000" y="2340000"/>
            <a:ext cx="3420000" cy="108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4FD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500" b="0">
                <a:solidFill>
                  <a:srgbClr val="0A2A4A"/>
                </a:solidFill>
                <a:latin typeface="Calibri"/>
                <a:ea typeface="Calibri"/>
              </a:rPr>
              <a:t>IBM Granite LLM</a:t>
            </a:r>
          </a:p>
          <a:p xmlns:a="http://schemas.openxmlformats.org/drawingml/2006/main">
            <a:r>
              <a:rPr lang="en-US" sz="1500" b="0">
                <a:solidFill>
                  <a:srgbClr val="0A2A4A"/>
                </a:solidFill>
                <a:latin typeface="Calibri"/>
                <a:ea typeface="Calibri"/>
              </a:rPr>
              <a:t>Connects to watsonx.ai with automatic demo mode fallback</a:t>
            </a:r>
          </a:p>
        </p:txBody>
      </p:sp>
      <p:sp>
        <p:nvSpPr>
          <p:cNvPr id="100014" name="KeyBox3"/>
          <p:cNvSpPr txBox="1"/>
          <p:nvPr/>
        </p:nvSpPr>
        <p:spPr>
          <a:xfrm xmlns:a="http://schemas.openxmlformats.org/drawingml/2006/main">
            <a:off x="8100000" y="2340000"/>
            <a:ext cx="3420000" cy="108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4FD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500" b="0">
                <a:solidFill>
                  <a:srgbClr val="0A2A4A"/>
                </a:solidFill>
                <a:latin typeface="Calibri"/>
                <a:ea typeface="Calibri"/>
              </a:rPr>
              <a:t>Medical Safety</a:t>
            </a:r>
          </a:p>
          <a:p xmlns:a="http://schemas.openxmlformats.org/drawingml/2006/main">
            <a:r>
              <a:rPr lang="en-US" sz="1500" b="0">
                <a:solidFill>
                  <a:srgbClr val="0A2A4A"/>
                </a:solidFill>
                <a:latin typeface="Calibri"/>
                <a:ea typeface="Calibri"/>
              </a:rPr>
              <a:t>Diabetes, BP, Heart, Thyroid, Kidney condition awareness</a:t>
            </a:r>
          </a:p>
        </p:txBody>
      </p:sp>
      <p:sp>
        <p:nvSpPr>
          <p:cNvPr id="100015" name="KeyBox4"/>
          <p:cNvSpPr txBox="1"/>
          <p:nvPr/>
        </p:nvSpPr>
        <p:spPr>
          <a:xfrm xmlns:a="http://schemas.openxmlformats.org/drawingml/2006/main">
            <a:off x="540000" y="3600000"/>
            <a:ext cx="3420000" cy="108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4FD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500" b="0">
                <a:solidFill>
                  <a:srgbClr val="0A2A4A"/>
                </a:solidFill>
                <a:latin typeface="Calibri"/>
                <a:ea typeface="Calibri"/>
              </a:rPr>
              <a:t>AI Ethics &amp; Guardrails</a:t>
            </a:r>
          </a:p>
          <a:p xmlns:a="http://schemas.openxmlformats.org/drawingml/2006/main">
            <a:r>
              <a:rPr lang="en-US" sz="1500" b="0">
                <a:solidFill>
                  <a:srgbClr val="0A2A4A"/>
                </a:solidFill>
                <a:latin typeface="Calibri"/>
                <a:ea typeface="Calibri"/>
              </a:rPr>
              <a:t>15+ blocked harmful topics + prompt injection prevention</a:t>
            </a:r>
          </a:p>
        </p:txBody>
      </p:sp>
      <p:sp>
        <p:nvSpPr>
          <p:cNvPr id="100016" name="KeyBox5"/>
          <p:cNvSpPr txBox="1"/>
          <p:nvPr/>
        </p:nvSpPr>
        <p:spPr>
          <a:xfrm xmlns:a="http://schemas.openxmlformats.org/drawingml/2006/main">
            <a:off x="4320000" y="3600000"/>
            <a:ext cx="3420000" cy="108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4FD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500" b="0">
                <a:solidFill>
                  <a:srgbClr val="0A2A4A"/>
                </a:solidFill>
                <a:latin typeface="Calibri"/>
                <a:ea typeface="Calibri"/>
              </a:rPr>
              <a:t>Chat Assistant</a:t>
            </a:r>
          </a:p>
          <a:p xmlns:a="http://schemas.openxmlformats.org/drawingml/2006/main">
            <a:r>
              <a:rPr lang="en-US" sz="1500" b="0">
                <a:solidFill>
                  <a:srgbClr val="0A2A4A"/>
                </a:solidFill>
                <a:latin typeface="Calibri"/>
                <a:ea typeface="Calibri"/>
              </a:rPr>
              <a:t>Ask NutriGuide AI any nutrition question in real-time</a:t>
            </a:r>
          </a:p>
        </p:txBody>
      </p:sp>
      <p:sp>
        <p:nvSpPr>
          <p:cNvPr id="100017" name="KeyBox6"/>
          <p:cNvSpPr txBox="1"/>
          <p:nvPr/>
        </p:nvSpPr>
        <p:spPr>
          <a:xfrm xmlns:a="http://schemas.openxmlformats.org/drawingml/2006/main">
            <a:off x="8100000" y="3600000"/>
            <a:ext cx="3420000" cy="108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4FD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500" b="0">
                <a:solidFill>
                  <a:srgbClr val="0A2A4A"/>
                </a:solidFill>
                <a:latin typeface="Calibri"/>
                <a:ea typeface="Calibri"/>
              </a:rPr>
              <a:t>Auto-Save Markdown</a:t>
            </a:r>
          </a:p>
          <a:p xmlns:a="http://schemas.openxmlformats.org/drawingml/2006/main">
            <a:r>
              <a:rPr lang="en-US" sz="1500" b="0">
                <a:solidFill>
                  <a:srgbClr val="0A2A4A"/>
                </a:solidFill>
                <a:latin typeface="Calibri"/>
                <a:ea typeface="Calibri"/>
              </a:rPr>
              <a:t>Every plan saved as .md file, downloadable from UI</a:t>
            </a:r>
          </a:p>
        </p:txBody>
      </p:sp>
      <p:sp>
        <p:nvSpPr>
          <p:cNvPr id="100018" name="BottomBar"/>
          <p:cNvSpPr txBox="1"/>
          <p:nvPr/>
        </p:nvSpPr>
        <p:spPr>
          <a:xfrm xmlns:a="http://schemas.openxmlformats.org/drawingml/2006/main">
            <a:off x="0" y="6660000"/>
            <a:ext cx="12193200" cy="18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6B3C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 sz="800">
              <a:solidFill>
                <a:srgbClr val="1A6B3C"/>
              </a:solidFill>
            </a:endParaRPr>
          </a:p>
        </p:txBody>
      </p:sp>
    </p:spTree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/>
      <p:sp>
        <p:nvSpPr>
          <p:cNvPr id="100019" name="HeaderBar"/>
          <p:cNvSpPr txBox="1"/>
          <p:nvPr/>
        </p:nvSpPr>
        <p:spPr>
          <a:xfrm xmlns:a="http://schemas.openxmlformats.org/drawingml/2006/main">
            <a:off x="0" y="0"/>
            <a:ext cx="12193200" cy="72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2A4A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 sz="800">
              <a:solidFill>
                <a:srgbClr val="0A2A4A"/>
              </a:solidFill>
            </a:endParaRPr>
          </a:p>
        </p:txBody>
      </p:sp>
      <p:sp>
        <p:nvSpPr>
          <p:cNvPr id="100020" name="SlideTitle"/>
          <p:cNvSpPr txBox="1"/>
          <p:nvPr/>
        </p:nvSpPr>
        <p:spPr>
          <a:xfrm xmlns:a="http://schemas.openxmlformats.org/drawingml/2006/main">
            <a:off x="540000" y="108000"/>
            <a:ext cx="10080000" cy="50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3200" b="1">
                <a:solidFill>
                  <a:srgbClr val="FFFFFF"/>
                </a:solidFill>
                <a:latin typeface="Calibri"/>
                <a:ea typeface="Calibri"/>
              </a:rPr>
              <a:t>System Architecture</a:t>
            </a:r>
          </a:p>
        </p:txBody>
      </p:sp>
      <p:sp>
        <p:nvSpPr>
          <p:cNvPr id="100021" name="SlideNum"/>
          <p:cNvSpPr txBox="1"/>
          <p:nvPr/>
        </p:nvSpPr>
        <p:spPr>
          <a:xfrm xmlns:a="http://schemas.openxmlformats.org/drawingml/2006/main">
            <a:off x="10800000" y="144000"/>
            <a:ext cx="720000" cy="3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000" b="0">
                <a:solidFill>
                  <a:srgbClr val="7EC8E3"/>
                </a:solidFill>
                <a:latin typeface="Calibri"/>
                <a:ea typeface="Calibri"/>
              </a:rPr>
              <a:t>3</a:t>
            </a:r>
          </a:p>
        </p:txBody>
      </p:sp>
      <p:sp>
        <p:nvSpPr>
          <p:cNvPr id="100022" name="Layer1"/>
          <p:cNvSpPr txBox="1"/>
          <p:nvPr/>
        </p:nvSpPr>
        <p:spPr>
          <a:xfrm xmlns:a="http://schemas.openxmlformats.org/drawingml/2006/main">
            <a:off x="1440000" y="900000"/>
            <a:ext cx="9000000" cy="90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EC8E3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600" b="0">
                <a:solidFill>
                  <a:srgbClr val="0A2A4A"/>
                </a:solidFill>
                <a:latin typeface="Calibri"/>
                <a:ea typeface="Calibri"/>
              </a:rPr>
              <a:t>WEB BROWSER (Frontend)</a:t>
            </a:r>
          </a:p>
          <a:p xmlns:a="http://schemas.openxmlformats.org/drawingml/2006/main">
            <a:r>
              <a:rPr lang="en-US" sz="1600" b="0">
                <a:solidFill>
                  <a:srgbClr val="0A2A4A"/>
                </a:solidFill>
                <a:latin typeface="Calibri"/>
                <a:ea typeface="Calibri"/>
              </a:rPr>
              <a:t>HTML5 + CSS3 + Vanilla JavaScript</a:t>
            </a:r>
          </a:p>
          <a:p xmlns:a="http://schemas.openxmlformats.org/drawingml/2006/main">
            <a:r>
              <a:rPr lang="en-US" sz="1600" b="0">
                <a:solidFill>
                  <a:srgbClr val="0A2A4A"/>
                </a:solidFill>
                <a:latin typeface="Calibri"/>
                <a:ea typeface="Calibri"/>
              </a:rPr>
              <a:t>Profile Form  |  Plan Viewer  |  Chat  |  Saved Plans</a:t>
            </a:r>
          </a:p>
        </p:txBody>
      </p:sp>
      <p:sp>
        <p:nvSpPr>
          <p:cNvPr id="100023" name="Arrow1"/>
          <p:cNvSpPr txBox="1"/>
          <p:nvPr/>
        </p:nvSpPr>
        <p:spPr>
          <a:xfrm xmlns:a="http://schemas.openxmlformats.org/drawingml/2006/main">
            <a:off x="4680000" y="1908000"/>
            <a:ext cx="2880000" cy="25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 b="0">
                <a:solidFill>
                  <a:srgbClr val="555555"/>
                </a:solidFill>
                <a:latin typeface="Calibri"/>
                <a:ea typeface="Calibri"/>
              </a:rPr>
              <a:t>REST API (JSON over HTTP)</a:t>
            </a:r>
          </a:p>
        </p:txBody>
      </p:sp>
      <p:sp>
        <p:nvSpPr>
          <p:cNvPr id="100024" name="Layer2"/>
          <p:cNvSpPr txBox="1"/>
          <p:nvPr/>
        </p:nvSpPr>
        <p:spPr>
          <a:xfrm xmlns:a="http://schemas.openxmlformats.org/drawingml/2006/main">
            <a:off x="1440000" y="2232000"/>
            <a:ext cx="9000000" cy="82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6B3C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500" b="0">
                <a:solidFill>
                  <a:srgbClr val="FFFFFF"/>
                </a:solidFill>
                <a:latin typeface="Calibri"/>
                <a:ea typeface="Calibri"/>
              </a:rPr>
              <a:t>FLASK BACKEND  —  app.py</a:t>
            </a:r>
          </a:p>
          <a:p xmlns:a="http://schemas.openxmlformats.org/drawingml/2006/main">
            <a:r>
              <a:rPr lang="en-US" sz="1500" b="0">
                <a:solidFill>
                  <a:srgbClr val="FFFFFF"/>
                </a:solidFill>
                <a:latin typeface="Calibri"/>
                <a:ea typeface="Calibri"/>
              </a:rPr>
              <a:t>POST /api/generate-plan    |    POST /api/query</a:t>
            </a:r>
          </a:p>
          <a:p xmlns:a="http://schemas.openxmlformats.org/drawingml/2006/main">
            <a:r>
              <a:rPr lang="en-US" sz="1500" b="0">
                <a:solidFill>
                  <a:srgbClr val="FFFFFF"/>
                </a:solidFill>
                <a:latin typeface="Calibri"/>
                <a:ea typeface="Calibri"/>
              </a:rPr>
              <a:t>GET  /api/plans              |    GET /api/plans/&lt;filename&gt;</a:t>
            </a:r>
          </a:p>
        </p:txBody>
      </p:sp>
      <p:sp>
        <p:nvSpPr>
          <p:cNvPr id="100025" name="Arrow2"/>
          <p:cNvSpPr txBox="1"/>
          <p:nvPr/>
        </p:nvSpPr>
        <p:spPr>
          <a:xfrm xmlns:a="http://schemas.openxmlformats.org/drawingml/2006/main">
            <a:off x="4680000" y="3132000"/>
            <a:ext cx="2880000" cy="25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 b="0">
                <a:solidFill>
                  <a:srgbClr val="555555"/>
                </a:solidFill>
                <a:latin typeface="Calibri"/>
                <a:ea typeface="Calibri"/>
              </a:rPr>
              <a:t>Agentic Pipeline Calls</a:t>
            </a:r>
          </a:p>
        </p:txBody>
      </p:sp>
      <p:sp>
        <p:nvSpPr>
          <p:cNvPr id="100026" name="Layer3"/>
          <p:cNvSpPr txBox="1"/>
          <p:nvPr/>
        </p:nvSpPr>
        <p:spPr>
          <a:xfrm xmlns:a="http://schemas.openxmlformats.org/drawingml/2006/main">
            <a:off x="1440000" y="3456000"/>
            <a:ext cx="9000000" cy="108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2A4A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 b="0">
                <a:solidFill>
                  <a:srgbClr val="FFFFFF"/>
                </a:solidFill>
                <a:latin typeface="Calibri"/>
                <a:ea typeface="Calibri"/>
              </a:rPr>
              <a:t>NUTRITION AGENT PIPELINE  —  agent.py</a:t>
            </a:r>
          </a:p>
          <a:p xmlns:a="http://schemas.openxmlformats.org/drawingml/2006/main">
            <a:r>
              <a:rPr lang="en-US" sz="1400" b="0">
                <a:solidFill>
                  <a:srgbClr val="FFFFFF"/>
                </a:solidFill>
                <a:latin typeface="Calibri"/>
                <a:ea typeface="Calibri"/>
              </a:rPr>
              <a:t>Agent 1: Profile Validator  →  Agent 2: Medical Context Analyzer  →  Agent 3: Caloric Calculator</a:t>
            </a:r>
          </a:p>
          <a:p xmlns:a="http://schemas.openxmlformats.org/drawingml/2006/main">
            <a:r>
              <a:rPr lang="en-US" sz="1400" b="0">
                <a:solidFill>
                  <a:srgbClr val="FFFFFF"/>
                </a:solidFill>
                <a:latin typeface="Calibri"/>
                <a:ea typeface="Calibri"/>
              </a:rPr>
              <a:t>Agent 4: Meal Plan Builder  →  Agent 5: IBM Granite LLM  →  Agent 6: Guardrail Reviewer + Formatter</a:t>
            </a:r>
          </a:p>
        </p:txBody>
      </p:sp>
      <p:sp>
        <p:nvSpPr>
          <p:cNvPr id="100027" name="Layer4"/>
          <p:cNvSpPr txBox="1"/>
          <p:nvPr/>
        </p:nvSpPr>
        <p:spPr>
          <a:xfrm xmlns:a="http://schemas.openxmlformats.org/drawingml/2006/main">
            <a:off x="1440000" y="4680000"/>
            <a:ext cx="9000000" cy="6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392B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500" b="0">
                <a:solidFill>
                  <a:srgbClr val="FFFFFF"/>
                </a:solidFill>
                <a:latin typeface="Calibri"/>
                <a:ea typeface="Calibri"/>
              </a:rPr>
              <a:t>GUARDRAILS &amp; ETHICS LAYER  —  guardrails.py</a:t>
            </a:r>
          </a:p>
          <a:p xmlns:a="http://schemas.openxmlformats.org/drawingml/2006/main">
            <a:r>
              <a:rPr lang="en-US" sz="1500" b="0">
                <a:solidFill>
                  <a:srgbClr val="FFFFFF"/>
                </a:solidFill>
                <a:latin typeface="Calibri"/>
                <a:ea typeface="Calibri"/>
              </a:rPr>
              <a:t>Blocked Topics  |  HAM Principles  |  Input Sanitizer  |  Medical Disclaimer</a:t>
            </a:r>
          </a:p>
        </p:txBody>
      </p:sp>
      <p:sp>
        <p:nvSpPr>
          <p:cNvPr id="100028" name="Layer5"/>
          <p:cNvSpPr txBox="1"/>
          <p:nvPr/>
        </p:nvSpPr>
        <p:spPr>
          <a:xfrm xmlns:a="http://schemas.openxmlformats.org/drawingml/2006/main">
            <a:off x="1440000" y="5472000"/>
            <a:ext cx="9000000" cy="6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4ADA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500" b="0">
                <a:solidFill>
                  <a:srgbClr val="FFFFFF"/>
                </a:solidFill>
                <a:latin typeface="Calibri"/>
                <a:ea typeface="Calibri"/>
              </a:rPr>
              <a:t>IBM watsonx.ai  (ibm/granite-13b-instruct-v2)</a:t>
            </a:r>
          </a:p>
          <a:p xmlns:a="http://schemas.openxmlformats.org/drawingml/2006/main">
            <a:r>
              <a:rPr lang="en-US" sz="1500" b="0">
                <a:solidFill>
                  <a:srgbClr val="FFFFFF"/>
                </a:solidFill>
                <a:latin typeface="Calibri"/>
                <a:ea typeface="Calibri"/>
              </a:rPr>
              <a:t>max_new_tokens=1500  |  temperature=0.7  |  top_p=0.9</a:t>
            </a:r>
          </a:p>
        </p:txBody>
      </p:sp>
      <p:sp>
        <p:nvSpPr>
          <p:cNvPr id="100029" name="Output"/>
          <p:cNvSpPr txBox="1"/>
          <p:nvPr/>
        </p:nvSpPr>
        <p:spPr>
          <a:xfrm xmlns:a="http://schemas.openxmlformats.org/drawingml/2006/main">
            <a:off x="1440000" y="6192000"/>
            <a:ext cx="9000000" cy="3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6B3C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 b="0">
                <a:solidFill>
                  <a:srgbClr val="FFFFFF"/>
                </a:solidFill>
                <a:latin typeface="Calibri"/>
                <a:ea typeface="Calibri"/>
              </a:rPr>
              <a:t>Output: saved_plans/*.md  +  Web UI Response</a:t>
            </a:r>
          </a:p>
        </p:txBody>
      </p:sp>
    </p:spTree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A2A4A"/>
        </a:solidFill>
      </p:bgPr>
    </p:bg>
    <p:spTree>
      <p:nvGrpSpPr>
        <p:cNvPr id="1" name=""/>
        <p:cNvGrpSpPr/>
        <p:nvPr/>
      </p:nvGrpSpPr>
      <p:grpSpPr/>
      <p:sp>
        <p:nvSpPr>
          <p:cNvPr id="100030" name="HeaderBar"/>
          <p:cNvSpPr txBox="1"/>
          <p:nvPr/>
        </p:nvSpPr>
        <p:spPr>
          <a:xfrm xmlns:a="http://schemas.openxmlformats.org/drawingml/2006/main">
            <a:off x="0" y="0"/>
            <a:ext cx="12193200" cy="72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6B3C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 sz="800">
              <a:solidFill>
                <a:srgbClr val="1A6B3C"/>
              </a:solidFill>
            </a:endParaRPr>
          </a:p>
        </p:txBody>
      </p:sp>
      <p:sp>
        <p:nvSpPr>
          <p:cNvPr id="100031" name="SlideTitle"/>
          <p:cNvSpPr txBox="1"/>
          <p:nvPr/>
        </p:nvSpPr>
        <p:spPr>
          <a:xfrm xmlns:a="http://schemas.openxmlformats.org/drawingml/2006/main">
            <a:off x="540000" y="108000"/>
            <a:ext cx="10080000" cy="50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3200" b="1">
                <a:solidFill>
                  <a:srgbClr val="FFFFFF"/>
                </a:solidFill>
                <a:latin typeface="Calibri"/>
                <a:ea typeface="Calibri"/>
              </a:rPr>
              <a:t>6-Phase Agentic AI Pipeline</a:t>
            </a:r>
          </a:p>
        </p:txBody>
      </p:sp>
      <p:sp>
        <p:nvSpPr>
          <p:cNvPr id="100032" name="SlideNum"/>
          <p:cNvSpPr txBox="1"/>
          <p:nvPr/>
        </p:nvSpPr>
        <p:spPr>
          <a:xfrm xmlns:a="http://schemas.openxmlformats.org/drawingml/2006/main">
            <a:off x="10800000" y="144000"/>
            <a:ext cx="720000" cy="3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000" b="0">
                <a:solidFill>
                  <a:srgbClr val="FFFFFF"/>
                </a:solidFill>
                <a:latin typeface="Calibri"/>
                <a:ea typeface="Calibri"/>
              </a:rPr>
              <a:t>4</a:t>
            </a:r>
          </a:p>
        </p:txBody>
      </p:sp>
      <p:sp>
        <p:nvSpPr>
          <p:cNvPr id="100033" name="Phase1"/>
          <p:cNvSpPr txBox="1"/>
          <p:nvPr/>
        </p:nvSpPr>
        <p:spPr>
          <a:xfrm xmlns:a="http://schemas.openxmlformats.org/drawingml/2006/main">
            <a:off x="360000" y="828000"/>
            <a:ext cx="5580000" cy="108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3A5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 b="0">
                <a:solidFill>
                  <a:srgbClr val="7EC8E3"/>
                </a:solidFill>
                <a:latin typeface="Calibri"/>
                <a:ea typeface="Calibri"/>
              </a:rPr>
              <a:t>PHASE 1 — REQUIREMENTS</a:t>
            </a:r>
          </a:p>
          <a:p xmlns:a="http://schemas.openxmlformats.org/drawingml/2006/main">
            <a:r>
              <a:rPr lang="en-US" sz="1400" b="0">
                <a:solidFill>
                  <a:srgbClr val="7EC8E3"/>
                </a:solidFill>
                <a:latin typeface="Calibri"/>
                <a:ea typeface="Calibri"/>
              </a:rPr>
              <a:t>Profile Validator Agent</a:t>
            </a:r>
          </a:p>
          <a:p xmlns:a="http://schemas.openxmlformats.org/drawingml/2006/main">
            <a:r>
              <a:rPr lang="en-US" sz="1400" b="0">
                <a:solidFill>
                  <a:srgbClr val="7EC8E3"/>
                </a:solidFill>
                <a:latin typeface="Calibri"/>
                <a:ea typeface="Calibri"/>
              </a:rPr>
              <a:t>Collect &amp; validate: name, age, diet, medical history, city, country. Sanitize all inputs. Block injections.</a:t>
            </a:r>
          </a:p>
        </p:txBody>
      </p:sp>
      <p:sp>
        <p:nvSpPr>
          <p:cNvPr id="100034" name="Phase2"/>
          <p:cNvSpPr txBox="1"/>
          <p:nvPr/>
        </p:nvSpPr>
        <p:spPr>
          <a:xfrm xmlns:a="http://schemas.openxmlformats.org/drawingml/2006/main">
            <a:off x="6300000" y="828000"/>
            <a:ext cx="5580000" cy="108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3A5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 b="0">
                <a:solidFill>
                  <a:srgbClr val="7EC8E3"/>
                </a:solidFill>
                <a:latin typeface="Calibri"/>
                <a:ea typeface="Calibri"/>
              </a:rPr>
              <a:t>PHASE 2 — ANALYSIS</a:t>
            </a:r>
          </a:p>
          <a:p xmlns:a="http://schemas.openxmlformats.org/drawingml/2006/main">
            <a:r>
              <a:rPr lang="en-US" sz="1400" b="0">
                <a:solidFill>
                  <a:srgbClr val="7EC8E3"/>
                </a:solidFill>
                <a:latin typeface="Calibri"/>
                <a:ea typeface="Calibri"/>
              </a:rPr>
              <a:t>Medical Context Agent</a:t>
            </a:r>
          </a:p>
          <a:p xmlns:a="http://schemas.openxmlformats.org/drawingml/2006/main">
            <a:r>
              <a:rPr lang="en-US" sz="1400" b="0">
                <a:solidFill>
                  <a:srgbClr val="7EC8E3"/>
                </a:solidFill>
                <a:latin typeface="Calibri"/>
                <a:ea typeface="Calibri"/>
              </a:rPr>
              <a:t>Detect conditions: Diabetes, Blood Pressure, Heart, Thyroid, Kidney. Map dietary adaptations from MEDICAL_ADAPTATIONS dict.</a:t>
            </a:r>
          </a:p>
        </p:txBody>
      </p:sp>
      <p:sp>
        <p:nvSpPr>
          <p:cNvPr id="100035" name="Phase2b"/>
          <p:cNvSpPr txBox="1"/>
          <p:nvPr/>
        </p:nvSpPr>
        <p:spPr>
          <a:xfrm xmlns:a="http://schemas.openxmlformats.org/drawingml/2006/main">
            <a:off x="360000" y="2088000"/>
            <a:ext cx="5580000" cy="108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3A5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 b="0">
                <a:solidFill>
                  <a:srgbClr val="7EC8E3"/>
                </a:solidFill>
                <a:latin typeface="Calibri"/>
                <a:ea typeface="Calibri"/>
              </a:rPr>
              <a:t>PHASE 2b — ANALYSIS</a:t>
            </a:r>
          </a:p>
          <a:p xmlns:a="http://schemas.openxmlformats.org/drawingml/2006/main">
            <a:r>
              <a:rPr lang="en-US" sz="1400" b="0">
                <a:solidFill>
                  <a:srgbClr val="7EC8E3"/>
                </a:solidFill>
                <a:latin typeface="Calibri"/>
                <a:ea typeface="Calibri"/>
              </a:rPr>
              <a:t>Caloric Needs Agent</a:t>
            </a:r>
          </a:p>
          <a:p xmlns:a="http://schemas.openxmlformats.org/drawingml/2006/main">
            <a:r>
              <a:rPr lang="en-US" sz="1400" b="0">
                <a:solidFill>
                  <a:srgbClr val="7EC8E3"/>
                </a:solidFill>
                <a:latin typeface="Calibri"/>
                <a:ea typeface="Calibri"/>
              </a:rPr>
              <a:t>Mifflin-St Jeor estimation: age-based calories (1700–2200 kcal). Calculates protein 25%, carbs 45%, fat 30%, fiber 25g, water 2.5L.</a:t>
            </a:r>
          </a:p>
        </p:txBody>
      </p:sp>
      <p:sp>
        <p:nvSpPr>
          <p:cNvPr id="100036" name="Phase3"/>
          <p:cNvSpPr txBox="1"/>
          <p:nvPr/>
        </p:nvSpPr>
        <p:spPr>
          <a:xfrm xmlns:a="http://schemas.openxmlformats.org/drawingml/2006/main">
            <a:off x="6300000" y="2088000"/>
            <a:ext cx="5580000" cy="108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3A5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 b="0">
                <a:solidFill>
                  <a:srgbClr val="7EC8E3"/>
                </a:solidFill>
                <a:latin typeface="Calibri"/>
                <a:ea typeface="Calibri"/>
              </a:rPr>
              <a:t>PHASE 3 — PLANNING</a:t>
            </a:r>
          </a:p>
          <a:p xmlns:a="http://schemas.openxmlformats.org/drawingml/2006/main">
            <a:r>
              <a:rPr lang="en-US" sz="1400" b="0">
                <a:solidFill>
                  <a:srgbClr val="7EC8E3"/>
                </a:solidFill>
                <a:latin typeface="Calibri"/>
                <a:ea typeface="Calibri"/>
              </a:rPr>
              <a:t>Meal Plan Builder Agent</a:t>
            </a:r>
          </a:p>
          <a:p xmlns:a="http://schemas.openxmlformats.org/drawingml/2006/main">
            <a:r>
              <a:rPr lang="en-US" sz="1400" b="0">
                <a:solidFill>
                  <a:srgbClr val="7EC8E3"/>
                </a:solidFill>
                <a:latin typeface="Calibri"/>
                <a:ea typeface="Calibri"/>
              </a:rPr>
              <a:t>Generates full 7-day plan (Mon–Sun) from NUTRITION_DATABASE. Adapts portions for diabetes (½ cup carbs) and BP (no salt).</a:t>
            </a:r>
          </a:p>
        </p:txBody>
      </p:sp>
      <p:sp>
        <p:nvSpPr>
          <p:cNvPr id="100037" name="Phase4"/>
          <p:cNvSpPr txBox="1"/>
          <p:nvPr/>
        </p:nvSpPr>
        <p:spPr>
          <a:xfrm xmlns:a="http://schemas.openxmlformats.org/drawingml/2006/main">
            <a:off x="360000" y="3348000"/>
            <a:ext cx="5580000" cy="108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4ADA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 b="0">
                <a:solidFill>
                  <a:srgbClr val="FFFFFF"/>
                </a:solidFill>
                <a:latin typeface="Calibri"/>
                <a:ea typeface="Calibri"/>
              </a:rPr>
              <a:t>PHASE 4 — GENERATION</a:t>
            </a:r>
          </a:p>
          <a:p xmlns:a="http://schemas.openxmlformats.org/drawingml/2006/main">
            <a:r>
              <a:rPr lang="en-US" sz="1400" b="0">
                <a:solidFill>
                  <a:srgbClr val="FFFFFF"/>
                </a:solidFill>
                <a:latin typeface="Calibri"/>
                <a:ea typeface="Calibri"/>
              </a:rPr>
              <a:t>IBM Granite LLM Agent</a:t>
            </a:r>
          </a:p>
          <a:p xmlns:a="http://schemas.openxmlformats.org/drawingml/2006/main">
            <a:r>
              <a:rPr lang="en-US" sz="1400" b="0">
                <a:solidFill>
                  <a:srgbClr val="FFFFFF"/>
                </a:solidFill>
                <a:latin typeface="Calibri"/>
                <a:ea typeface="Calibri"/>
              </a:rPr>
              <a:t>Sends structured prompt to ibm/granite-13b-instruct-v2 via watsonx.ai. Returns personalized narrative. Falls back to demo mode if no API key.</a:t>
            </a:r>
          </a:p>
        </p:txBody>
      </p:sp>
      <p:sp>
        <p:nvSpPr>
          <p:cNvPr id="100038" name="Phase5"/>
          <p:cNvSpPr txBox="1"/>
          <p:nvPr/>
        </p:nvSpPr>
        <p:spPr>
          <a:xfrm xmlns:a="http://schemas.openxmlformats.org/drawingml/2006/main">
            <a:off x="6300000" y="3348000"/>
            <a:ext cx="5580000" cy="108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392B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 b="0">
                <a:solidFill>
                  <a:srgbClr val="FFFFFF"/>
                </a:solidFill>
                <a:latin typeface="Calibri"/>
                <a:ea typeface="Calibri"/>
              </a:rPr>
              <a:t>PHASE 5 — REVIEW</a:t>
            </a:r>
          </a:p>
          <a:p xmlns:a="http://schemas.openxmlformats.org/drawingml/2006/main">
            <a:r>
              <a:rPr lang="en-US" sz="1400" b="0">
                <a:solidFill>
                  <a:srgbClr val="FFFFFF"/>
                </a:solidFill>
                <a:latin typeface="Calibri"/>
                <a:ea typeface="Calibri"/>
              </a:rPr>
              <a:t>Guardrail Reviewer Agent</a:t>
            </a:r>
          </a:p>
          <a:p xmlns:a="http://schemas.openxmlformats.org/drawingml/2006/main">
            <a:r>
              <a:rPr lang="en-US" sz="1400" b="0">
                <a:solidFill>
                  <a:srgbClr val="FFFFFF"/>
                </a:solidFill>
                <a:latin typeface="Calibri"/>
                <a:ea typeface="Calibri"/>
              </a:rPr>
              <a:t>Scans LLM output for 15+ harmful topics. Enforces HAM principles. Input length capped at 2000 chars. Filters prompt injection.</a:t>
            </a:r>
          </a:p>
        </p:txBody>
      </p:sp>
      <p:sp>
        <p:nvSpPr>
          <p:cNvPr id="100039" name="Phase6"/>
          <p:cNvSpPr txBox="1"/>
          <p:nvPr/>
        </p:nvSpPr>
        <p:spPr>
          <a:xfrm xmlns:a="http://schemas.openxmlformats.org/drawingml/2006/main">
            <a:off x="3240000" y="4680000"/>
            <a:ext cx="5760000" cy="90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6B3C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 b="0">
                <a:solidFill>
                  <a:srgbClr val="FFFFFF"/>
                </a:solidFill>
                <a:latin typeface="Calibri"/>
                <a:ea typeface="Calibri"/>
              </a:rPr>
              <a:t>PHASE 6 — DELIVERY</a:t>
            </a:r>
          </a:p>
          <a:p xmlns:a="http://schemas.openxmlformats.org/drawingml/2006/main">
            <a:r>
              <a:rPr lang="en-US" sz="1400" b="0">
                <a:solidFill>
                  <a:srgbClr val="FFFFFF"/>
                </a:solidFill>
                <a:latin typeface="Calibri"/>
                <a:ea typeface="Calibri"/>
              </a:rPr>
              <a:t>Formatter &amp; Save Agent</a:t>
            </a:r>
          </a:p>
          <a:p xmlns:a="http://schemas.openxmlformats.org/drawingml/2006/main">
            <a:r>
              <a:rPr lang="en-US" sz="1400" b="0">
                <a:solidFill>
                  <a:srgbClr val="FFFFFF"/>
                </a:solidFill>
                <a:latin typeface="Calibri"/>
                <a:ea typeface="Calibri"/>
              </a:rPr>
              <a:t>Formats full Markdown plan. Auto-saves as nutrition_plan_&lt;name&gt;_&lt;timestamp&gt;.md. Returns JSON response to Flask → Web UI.</a:t>
            </a:r>
          </a:p>
        </p:txBody>
      </p:sp>
    </p:spTree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100040" name="HeaderBar"/>
          <p:cNvSpPr txBox="1"/>
          <p:nvPr/>
        </p:nvSpPr>
        <p:spPr>
          <a:xfrm xmlns:a="http://schemas.openxmlformats.org/drawingml/2006/main">
            <a:off x="0" y="0"/>
            <a:ext cx="12193200" cy="72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2A4A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 sz="800">
              <a:solidFill>
                <a:srgbClr val="0A2A4A"/>
              </a:solidFill>
            </a:endParaRPr>
          </a:p>
        </p:txBody>
      </p:sp>
      <p:sp>
        <p:nvSpPr>
          <p:cNvPr id="100041" name="SlideTitle"/>
          <p:cNvSpPr txBox="1"/>
          <p:nvPr/>
        </p:nvSpPr>
        <p:spPr>
          <a:xfrm xmlns:a="http://schemas.openxmlformats.org/drawingml/2006/main">
            <a:off x="540000" y="108000"/>
            <a:ext cx="10080000" cy="50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3200" b="1">
                <a:solidFill>
                  <a:srgbClr val="FFFFFF"/>
                </a:solidFill>
                <a:latin typeface="Calibri"/>
                <a:ea typeface="Calibri"/>
              </a:rPr>
              <a:t>Technology Stack</a:t>
            </a:r>
          </a:p>
        </p:txBody>
      </p:sp>
      <p:sp>
        <p:nvSpPr>
          <p:cNvPr id="100042" name="SlideNum"/>
          <p:cNvSpPr txBox="1"/>
          <p:nvPr/>
        </p:nvSpPr>
        <p:spPr>
          <a:xfrm xmlns:a="http://schemas.openxmlformats.org/drawingml/2006/main">
            <a:off x="10800000" y="144000"/>
            <a:ext cx="720000" cy="3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000" b="0">
                <a:solidFill>
                  <a:srgbClr val="7EC8E3"/>
                </a:solidFill>
                <a:latin typeface="Calibri"/>
                <a:ea typeface="Calibri"/>
              </a:rPr>
              <a:t>5</a:t>
            </a:r>
          </a:p>
        </p:txBody>
      </p:sp>
      <p:sp>
        <p:nvSpPr>
          <p:cNvPr id="100043" name="Col1Head"/>
          <p:cNvSpPr txBox="1"/>
          <p:nvPr/>
        </p:nvSpPr>
        <p:spPr>
          <a:xfrm xmlns:a="http://schemas.openxmlformats.org/drawingml/2006/main">
            <a:off x="360000" y="900000"/>
            <a:ext cx="3420000" cy="28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2A4A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700" b="1">
                <a:solidFill>
                  <a:srgbClr val="FFFFFF"/>
                </a:solidFill>
                <a:latin typeface="Calibri"/>
                <a:ea typeface="Calibri"/>
              </a:rPr>
              <a:t>AI / LLM Layer</a:t>
            </a:r>
          </a:p>
        </p:txBody>
      </p:sp>
      <p:sp>
        <p:nvSpPr>
          <p:cNvPr id="100044" name="Col1Body"/>
          <p:cNvSpPr txBox="1"/>
          <p:nvPr/>
        </p:nvSpPr>
        <p:spPr>
          <a:xfrm xmlns:a="http://schemas.openxmlformats.org/drawingml/2006/main">
            <a:off x="360000" y="1224000"/>
            <a:ext cx="3420000" cy="180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4FD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500" b="0">
                <a:solidFill>
                  <a:srgbClr val="0A2A4A"/>
                </a:solidFill>
                <a:latin typeface="Calibri"/>
                <a:ea typeface="Calibri"/>
              </a:rPr>
              <a:t>IBM Granite-13b-Instruct-v2</a:t>
            </a:r>
          </a:p>
          <a:p xmlns:a="http://schemas.openxmlformats.org/drawingml/2006/main">
            <a:r>
              <a:rPr lang="en-US" sz="1500" b="0">
                <a:solidFill>
                  <a:srgbClr val="0A2A4A"/>
                </a:solidFill>
                <a:latin typeface="Calibri"/>
                <a:ea typeface="Calibri"/>
              </a:rPr>
              <a:t>IBM watsonx.ai API</a:t>
            </a:r>
          </a:p>
          <a:p xmlns:a="http://schemas.openxmlformats.org/drawingml/2006/main">
            <a:r>
              <a:rPr lang="en-US" sz="1500" b="0">
                <a:solidFill>
                  <a:srgbClr val="0A2A4A"/>
                </a:solidFill>
                <a:latin typeface="Calibri"/>
                <a:ea typeface="Calibri"/>
              </a:rPr>
              <a:t>ibm-watsonx-ai Python SDK</a:t>
            </a:r>
          </a:p>
          <a:p xmlns:a="http://schemas.openxmlformats.org/drawingml/2006/main">
            <a:r>
              <a:rPr lang="en-US" sz="1500" b="0">
                <a:solidFill>
                  <a:srgbClr val="0A2A4A"/>
                </a:solidFill>
                <a:latin typeface="Calibri"/>
                <a:ea typeface="Calibri"/>
              </a:rPr>
              <a:t>Model: max_tokens=1500</a:t>
            </a:r>
          </a:p>
          <a:p xmlns:a="http://schemas.openxmlformats.org/drawingml/2006/main">
            <a:r>
              <a:rPr lang="en-US" sz="1500" b="0">
                <a:solidFill>
                  <a:srgbClr val="0A2A4A"/>
                </a:solidFill>
                <a:latin typeface="Calibri"/>
                <a:ea typeface="Calibri"/>
              </a:rPr>
              <a:t>temp=0.7  |  top_p=0.9</a:t>
            </a:r>
          </a:p>
          <a:p xmlns:a="http://schemas.openxmlformats.org/drawingml/2006/main">
            <a:r>
              <a:rPr lang="en-US" sz="1500" b="0">
                <a:solidFill>
                  <a:srgbClr val="0A2A4A"/>
                </a:solidFill>
                <a:latin typeface="Calibri"/>
                <a:ea typeface="Calibri"/>
              </a:rPr>
              <a:t>repetition_penalty=1.1</a:t>
            </a:r>
          </a:p>
        </p:txBody>
      </p:sp>
      <p:sp>
        <p:nvSpPr>
          <p:cNvPr id="100045" name="Col2Head"/>
          <p:cNvSpPr txBox="1"/>
          <p:nvPr/>
        </p:nvSpPr>
        <p:spPr>
          <a:xfrm xmlns:a="http://schemas.openxmlformats.org/drawingml/2006/main">
            <a:off x="4320000" y="900000"/>
            <a:ext cx="3420000" cy="28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6B3C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700" b="1">
                <a:solidFill>
                  <a:srgbClr val="FFFFFF"/>
                </a:solidFill>
                <a:latin typeface="Calibri"/>
                <a:ea typeface="Calibri"/>
              </a:rPr>
              <a:t>Backend &amp; API</a:t>
            </a:r>
          </a:p>
        </p:txBody>
      </p:sp>
      <p:sp>
        <p:nvSpPr>
          <p:cNvPr id="100046" name="Col2Body"/>
          <p:cNvSpPr txBox="1"/>
          <p:nvPr/>
        </p:nvSpPr>
        <p:spPr>
          <a:xfrm xmlns:a="http://schemas.openxmlformats.org/drawingml/2006/main">
            <a:off x="4320000" y="1224000"/>
            <a:ext cx="3420000" cy="180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FE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500" b="0">
                <a:solidFill>
                  <a:srgbClr val="0A2A4A"/>
                </a:solidFill>
                <a:latin typeface="Calibri"/>
                <a:ea typeface="Calibri"/>
              </a:rPr>
              <a:t>Python 3.9+</a:t>
            </a:r>
          </a:p>
          <a:p xmlns:a="http://schemas.openxmlformats.org/drawingml/2006/main">
            <a:r>
              <a:rPr lang="en-US" sz="1500" b="0">
                <a:solidFill>
                  <a:srgbClr val="0A2A4A"/>
                </a:solidFill>
                <a:latin typeface="Calibri"/>
                <a:ea typeface="Calibri"/>
              </a:rPr>
              <a:t>Flask 3.0.3</a:t>
            </a:r>
          </a:p>
          <a:p xmlns:a="http://schemas.openxmlformats.org/drawingml/2006/main">
            <a:r>
              <a:rPr lang="en-US" sz="1500" b="0">
                <a:solidFill>
                  <a:srgbClr val="0A2A4A"/>
                </a:solidFill>
                <a:latin typeface="Calibri"/>
                <a:ea typeface="Calibri"/>
              </a:rPr>
              <a:t>Flask-CORS 4.0.1</a:t>
            </a:r>
          </a:p>
          <a:p xmlns:a="http://schemas.openxmlformats.org/drawingml/2006/main">
            <a:r>
              <a:rPr lang="en-US" sz="1500" b="0">
                <a:solidFill>
                  <a:srgbClr val="0A2A4A"/>
                </a:solidFill>
                <a:latin typeface="Calibri"/>
                <a:ea typeface="Calibri"/>
              </a:rPr>
              <a:t>python-dotenv 1.0.1</a:t>
            </a:r>
          </a:p>
          <a:p xmlns:a="http://schemas.openxmlformats.org/drawingml/2006/main">
            <a:r>
              <a:rPr lang="en-US" sz="1500" b="0">
                <a:solidFill>
                  <a:srgbClr val="0A2A4A"/>
                </a:solidFill>
                <a:latin typeface="Calibri"/>
                <a:ea typeface="Calibri"/>
              </a:rPr>
              <a:t>requests 2.32.3</a:t>
            </a:r>
          </a:p>
          <a:p xmlns:a="http://schemas.openxmlformats.org/drawingml/2006/main">
            <a:r>
              <a:rPr lang="en-US" sz="1500" b="0">
                <a:solidFill>
                  <a:srgbClr val="0A2A4A"/>
                </a:solidFill>
                <a:latin typeface="Calibri"/>
                <a:ea typeface="Calibri"/>
              </a:rPr>
              <a:t>markdown 3.6</a:t>
            </a:r>
          </a:p>
        </p:txBody>
      </p:sp>
      <p:sp>
        <p:nvSpPr>
          <p:cNvPr id="100047" name="Col3Head"/>
          <p:cNvSpPr txBox="1"/>
          <p:nvPr/>
        </p:nvSpPr>
        <p:spPr>
          <a:xfrm xmlns:a="http://schemas.openxmlformats.org/drawingml/2006/main">
            <a:off x="8280000" y="900000"/>
            <a:ext cx="3420000" cy="28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4ADA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700" b="1">
                <a:solidFill>
                  <a:srgbClr val="FFFFFF"/>
                </a:solidFill>
                <a:latin typeface="Calibri"/>
                <a:ea typeface="Calibri"/>
              </a:rPr>
              <a:t>Frontend</a:t>
            </a:r>
          </a:p>
        </p:txBody>
      </p:sp>
      <p:sp>
        <p:nvSpPr>
          <p:cNvPr id="100048" name="Col3Body"/>
          <p:cNvSpPr txBox="1"/>
          <p:nvPr/>
        </p:nvSpPr>
        <p:spPr>
          <a:xfrm xmlns:a="http://schemas.openxmlformats.org/drawingml/2006/main">
            <a:off x="8280000" y="1224000"/>
            <a:ext cx="3420000" cy="180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500" b="0">
                <a:solidFill>
                  <a:srgbClr val="0A2A4A"/>
                </a:solidFill>
                <a:latin typeface="Calibri"/>
                <a:ea typeface="Calibri"/>
              </a:rPr>
              <a:t>HTML5 + CSS3</a:t>
            </a:r>
          </a:p>
          <a:p xmlns:a="http://schemas.openxmlformats.org/drawingml/2006/main">
            <a:r>
              <a:rPr lang="en-US" sz="1500" b="0">
                <a:solidFill>
                  <a:srgbClr val="0A2A4A"/>
                </a:solidFill>
                <a:latin typeface="Calibri"/>
                <a:ea typeface="Calibri"/>
              </a:rPr>
              <a:t>Vanilla JavaScript</a:t>
            </a:r>
          </a:p>
          <a:p xmlns:a="http://schemas.openxmlformats.org/drawingml/2006/main">
            <a:r>
              <a:rPr lang="en-US" sz="1500" b="0">
                <a:solidFill>
                  <a:srgbClr val="0A2A4A"/>
                </a:solidFill>
                <a:latin typeface="Calibri"/>
                <a:ea typeface="Calibri"/>
              </a:rPr>
              <a:t>Dark theme responsive UI</a:t>
            </a:r>
          </a:p>
          <a:p xmlns:a="http://schemas.openxmlformats.org/drawingml/2006/main">
            <a:r>
              <a:rPr lang="en-US" sz="1500" b="0">
                <a:solidFill>
                  <a:srgbClr val="0A2A4A"/>
                </a:solidFill>
                <a:latin typeface="Calibri"/>
                <a:ea typeface="Calibri"/>
              </a:rPr>
              <a:t>Single-page application</a:t>
            </a:r>
          </a:p>
          <a:p xmlns:a="http://schemas.openxmlformats.org/drawingml/2006/main">
            <a:r>
              <a:rPr lang="en-US" sz="1500" b="0">
                <a:solidFill>
                  <a:srgbClr val="0A2A4A"/>
                </a:solidFill>
                <a:latin typeface="Calibri"/>
                <a:ea typeface="Calibri"/>
              </a:rPr>
              <a:t>No external JS framework</a:t>
            </a:r>
          </a:p>
          <a:p xmlns:a="http://schemas.openxmlformats.org/drawingml/2006/main">
            <a:r>
              <a:rPr lang="en-US" sz="1500" b="0">
                <a:solidFill>
                  <a:srgbClr val="0A2A4A"/>
                </a:solidFill>
                <a:latin typeface="Calibri"/>
                <a:ea typeface="Calibri"/>
              </a:rPr>
              <a:t>Works on desktop &amp; mobile</a:t>
            </a:r>
          </a:p>
        </p:txBody>
      </p:sp>
      <p:sp>
        <p:nvSpPr>
          <p:cNvPr id="100049" name="Col4Head"/>
          <p:cNvSpPr txBox="1"/>
          <p:nvPr/>
        </p:nvSpPr>
        <p:spPr>
          <a:xfrm xmlns:a="http://schemas.openxmlformats.org/drawingml/2006/main">
            <a:off x="360000" y="3348000"/>
            <a:ext cx="3420000" cy="28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D3C9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700" b="1">
                <a:solidFill>
                  <a:srgbClr val="FFFFFF"/>
                </a:solidFill>
                <a:latin typeface="Calibri"/>
                <a:ea typeface="Calibri"/>
              </a:rPr>
              <a:t>Storage &amp; Config</a:t>
            </a:r>
          </a:p>
        </p:txBody>
      </p:sp>
      <p:sp>
        <p:nvSpPr>
          <p:cNvPr id="100050" name="Col4Body"/>
          <p:cNvSpPr txBox="1"/>
          <p:nvPr/>
        </p:nvSpPr>
        <p:spPr>
          <a:xfrm xmlns:a="http://schemas.openxmlformats.org/drawingml/2006/main">
            <a:off x="360000" y="3672000"/>
            <a:ext cx="3420000" cy="14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EF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500" b="0">
                <a:solidFill>
                  <a:srgbClr val="0A2A4A"/>
                </a:solidFill>
                <a:latin typeface="Calibri"/>
                <a:ea typeface="Calibri"/>
              </a:rPr>
              <a:t>Markdown (.md) files</a:t>
            </a:r>
          </a:p>
          <a:p xmlns:a="http://schemas.openxmlformats.org/drawingml/2006/main">
            <a:r>
              <a:rPr lang="en-US" sz="1500" b="0">
                <a:solidFill>
                  <a:srgbClr val="0A2A4A"/>
                </a:solidFill>
                <a:latin typeface="Calibri"/>
                <a:ea typeface="Calibri"/>
              </a:rPr>
              <a:t>saved_plans/ directory</a:t>
            </a:r>
          </a:p>
          <a:p xmlns:a="http://schemas.openxmlformats.org/drawingml/2006/main">
            <a:r>
              <a:rPr lang="en-US" sz="1500" b="0">
                <a:solidFill>
                  <a:srgbClr val="0A2A4A"/>
                </a:solidFill>
                <a:latin typeface="Calibri"/>
                <a:ea typeface="Calibri"/>
              </a:rPr>
              <a:t>.env for secrets</a:t>
            </a:r>
          </a:p>
          <a:p xmlns:a="http://schemas.openxmlformats.org/drawingml/2006/main">
            <a:r>
              <a:rPr lang="en-US" sz="1500" b="0">
                <a:solidFill>
                  <a:srgbClr val="0A2A4A"/>
                </a:solidFill>
                <a:latin typeface="Calibri"/>
                <a:ea typeface="Calibri"/>
              </a:rPr>
              <a:t>.env.example template</a:t>
            </a:r>
          </a:p>
          <a:p xmlns:a="http://schemas.openxmlformats.org/drawingml/2006/main">
            <a:r>
              <a:rPr lang="en-US" sz="1500" b="0">
                <a:solidFill>
                  <a:srgbClr val="0A2A4A"/>
                </a:solidFill>
                <a:latin typeface="Calibri"/>
                <a:ea typeface="Calibri"/>
              </a:rPr>
              <a:t>.gitignore included</a:t>
            </a:r>
          </a:p>
        </p:txBody>
      </p:sp>
      <p:sp>
        <p:nvSpPr>
          <p:cNvPr id="100051" name="Col5Head"/>
          <p:cNvSpPr txBox="1"/>
          <p:nvPr/>
        </p:nvSpPr>
        <p:spPr>
          <a:xfrm xmlns:a="http://schemas.openxmlformats.org/drawingml/2006/main">
            <a:off x="4320000" y="3348000"/>
            <a:ext cx="3420000" cy="28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392B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700" b="1">
                <a:solidFill>
                  <a:srgbClr val="FFFFFF"/>
                </a:solidFill>
                <a:latin typeface="Calibri"/>
                <a:ea typeface="Calibri"/>
              </a:rPr>
              <a:t>Dev &amp; Deploy</a:t>
            </a:r>
          </a:p>
        </p:txBody>
      </p:sp>
      <p:sp>
        <p:nvSpPr>
          <p:cNvPr id="100052" name="Col5Body"/>
          <p:cNvSpPr txBox="1"/>
          <p:nvPr/>
        </p:nvSpPr>
        <p:spPr>
          <a:xfrm xmlns:a="http://schemas.openxmlformats.org/drawingml/2006/main">
            <a:off x="4320000" y="3672000"/>
            <a:ext cx="3420000" cy="14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EDEC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500" b="0">
                <a:solidFill>
                  <a:srgbClr val="0A2A4A"/>
                </a:solidFill>
                <a:latin typeface="Calibri"/>
                <a:ea typeface="Calibri"/>
              </a:rPr>
              <a:t>Git + GitHub</a:t>
            </a:r>
          </a:p>
          <a:p xmlns:a="http://schemas.openxmlformats.org/drawingml/2006/main">
            <a:r>
              <a:rPr lang="en-US" sz="1500" b="0">
                <a:solidFill>
                  <a:srgbClr val="0A2A4A"/>
                </a:solidFill>
                <a:latin typeface="Calibri"/>
                <a:ea typeface="Calibri"/>
              </a:rPr>
              <a:t>Windows .bat launcher</a:t>
            </a:r>
          </a:p>
          <a:p xmlns:a="http://schemas.openxmlformats.org/drawingml/2006/main">
            <a:r>
              <a:rPr lang="en-US" sz="1500" b="0">
                <a:solidFill>
                  <a:srgbClr val="0A2A4A"/>
                </a:solidFill>
                <a:latin typeface="Calibri"/>
                <a:ea typeface="Calibri"/>
              </a:rPr>
              <a:t>Virtual environment (venv)</a:t>
            </a:r>
          </a:p>
          <a:p xmlns:a="http://schemas.openxmlformats.org/drawingml/2006/main">
            <a:r>
              <a:rPr lang="en-US" sz="1500" b="0">
                <a:solidFill>
                  <a:srgbClr val="0A2A4A"/>
                </a:solidFill>
                <a:latin typeface="Calibri"/>
                <a:ea typeface="Calibri"/>
              </a:rPr>
              <a:t>One-click install script</a:t>
            </a:r>
          </a:p>
          <a:p xmlns:a="http://schemas.openxmlformats.org/drawingml/2006/main">
            <a:r>
              <a:rPr lang="en-US" sz="1500" b="0">
                <a:solidFill>
                  <a:srgbClr val="0A2A4A"/>
                </a:solidFill>
                <a:latin typeface="Calibri"/>
                <a:ea typeface="Calibri"/>
              </a:rPr>
              <a:t>Cross-platform support</a:t>
            </a:r>
          </a:p>
        </p:txBody>
      </p:sp>
      <p:sp>
        <p:nvSpPr>
          <p:cNvPr id="100053" name="Col6Head"/>
          <p:cNvSpPr txBox="1"/>
          <p:nvPr/>
        </p:nvSpPr>
        <p:spPr>
          <a:xfrm xmlns:a="http://schemas.openxmlformats.org/drawingml/2006/main">
            <a:off x="8280000" y="3348000"/>
            <a:ext cx="3420000" cy="28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7E22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700" b="1">
                <a:solidFill>
                  <a:srgbClr val="FFFFFF"/>
                </a:solidFill>
                <a:latin typeface="Calibri"/>
                <a:ea typeface="Calibri"/>
              </a:rPr>
              <a:t>Ethics &amp; Safety</a:t>
            </a:r>
          </a:p>
        </p:txBody>
      </p:sp>
      <p:sp>
        <p:nvSpPr>
          <p:cNvPr id="100054" name="Col6Body"/>
          <p:cNvSpPr txBox="1"/>
          <p:nvPr/>
        </p:nvSpPr>
        <p:spPr>
          <a:xfrm xmlns:a="http://schemas.openxmlformats.org/drawingml/2006/main">
            <a:off x="8280000" y="3672000"/>
            <a:ext cx="3420000" cy="14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9E7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500" b="0">
                <a:solidFill>
                  <a:srgbClr val="0A2A4A"/>
                </a:solidFill>
                <a:latin typeface="Calibri"/>
                <a:ea typeface="Calibri"/>
              </a:rPr>
              <a:t>HAM Principles</a:t>
            </a:r>
          </a:p>
          <a:p xmlns:a="http://schemas.openxmlformats.org/drawingml/2006/main">
            <a:r>
              <a:rPr lang="en-US" sz="1500" b="0">
                <a:solidFill>
                  <a:srgbClr val="0A2A4A"/>
                </a:solidFill>
                <a:latin typeface="Calibri"/>
                <a:ea typeface="Calibri"/>
              </a:rPr>
              <a:t>15+ blocked topics</a:t>
            </a:r>
          </a:p>
          <a:p xmlns:a="http://schemas.openxmlformats.org/drawingml/2006/main">
            <a:r>
              <a:rPr lang="en-US" sz="1500" b="0">
                <a:solidFill>
                  <a:srgbClr val="0A2A4A"/>
                </a:solidFill>
                <a:latin typeface="Calibri"/>
                <a:ea typeface="Calibri"/>
              </a:rPr>
              <a:t>Input sanitization</a:t>
            </a:r>
          </a:p>
          <a:p xmlns:a="http://schemas.openxmlformats.org/drawingml/2006/main">
            <a:r>
              <a:rPr lang="en-US" sz="1500" b="0">
                <a:solidFill>
                  <a:srgbClr val="0A2A4A"/>
                </a:solidFill>
                <a:latin typeface="Calibri"/>
                <a:ea typeface="Calibri"/>
              </a:rPr>
              <a:t>Prompt injection filter</a:t>
            </a:r>
          </a:p>
          <a:p xmlns:a="http://schemas.openxmlformats.org/drawingml/2006/main">
            <a:r>
              <a:rPr lang="en-US" sz="1500" b="0">
                <a:solidFill>
                  <a:srgbClr val="0A2A4A"/>
                </a:solidFill>
                <a:latin typeface="Calibri"/>
                <a:ea typeface="Calibri"/>
              </a:rPr>
              <a:t>Mandatory medical disclaimer</a:t>
            </a:r>
          </a:p>
        </p:txBody>
      </p:sp>
      <p:sp>
        <p:nvSpPr>
          <p:cNvPr id="100055" name="BottomBar"/>
          <p:cNvSpPr txBox="1"/>
          <p:nvPr/>
        </p:nvSpPr>
        <p:spPr>
          <a:xfrm xmlns:a="http://schemas.openxmlformats.org/drawingml/2006/main">
            <a:off x="0" y="6660000"/>
            <a:ext cx="12193200" cy="18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6B3C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 sz="800">
              <a:solidFill>
                <a:srgbClr val="1A6B3C"/>
              </a:solidFill>
            </a:endParaRPr>
          </a:p>
        </p:txBody>
      </p:sp>
    </p:spTree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/>
      <p:sp>
        <p:nvSpPr>
          <p:cNvPr id="100056" name="HeaderBar"/>
          <p:cNvSpPr txBox="1"/>
          <p:nvPr/>
        </p:nvSpPr>
        <p:spPr>
          <a:xfrm xmlns:a="http://schemas.openxmlformats.org/drawingml/2006/main">
            <a:off x="0" y="0"/>
            <a:ext cx="12193200" cy="72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2A4A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 sz="800">
              <a:solidFill>
                <a:srgbClr val="0A2A4A"/>
              </a:solidFill>
            </a:endParaRPr>
          </a:p>
        </p:txBody>
      </p:sp>
      <p:sp>
        <p:nvSpPr>
          <p:cNvPr id="100057" name="SlideTitle"/>
          <p:cNvSpPr txBox="1"/>
          <p:nvPr/>
        </p:nvSpPr>
        <p:spPr>
          <a:xfrm xmlns:a="http://schemas.openxmlformats.org/drawingml/2006/main">
            <a:off x="540000" y="108000"/>
            <a:ext cx="10080000" cy="50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3200" b="1">
                <a:solidFill>
                  <a:srgbClr val="FFFFFF"/>
                </a:solidFill>
                <a:latin typeface="Calibri"/>
                <a:ea typeface="Calibri"/>
              </a:rPr>
              <a:t>Key Features</a:t>
            </a:r>
          </a:p>
        </p:txBody>
      </p:sp>
      <p:sp>
        <p:nvSpPr>
          <p:cNvPr id="100058" name="SlideNum"/>
          <p:cNvSpPr txBox="1"/>
          <p:nvPr/>
        </p:nvSpPr>
        <p:spPr>
          <a:xfrm xmlns:a="http://schemas.openxmlformats.org/drawingml/2006/main">
            <a:off x="10800000" y="144000"/>
            <a:ext cx="720000" cy="3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000" b="0">
                <a:solidFill>
                  <a:srgbClr val="7EC8E3"/>
                </a:solidFill>
                <a:latin typeface="Calibri"/>
                <a:ea typeface="Calibri"/>
              </a:rPr>
              <a:t>6</a:t>
            </a:r>
          </a:p>
        </p:txBody>
      </p:sp>
      <p:sp>
        <p:nvSpPr>
          <p:cNvPr id="100059" name="F1"/>
          <p:cNvSpPr txBox="1"/>
          <p:nvPr/>
        </p:nvSpPr>
        <p:spPr>
          <a:xfrm xmlns:a="http://schemas.openxmlformats.org/drawingml/2006/main">
            <a:off x="360000" y="864000"/>
            <a:ext cx="5580000" cy="115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500" b="0">
                <a:solidFill>
                  <a:srgbClr val="0A2A4A"/>
                </a:solidFill>
                <a:latin typeface="Calibri"/>
                <a:ea typeface="Calibri"/>
              </a:rPr>
              <a:t>User Profile Collection</a:t>
            </a:r>
          </a:p>
          <a:p xmlns:a="http://schemas.openxmlformats.org/drawingml/2006/main">
            <a:r>
              <a:rPr lang="en-US" sz="1500" b="0">
                <a:solidFill>
                  <a:srgbClr val="0A2A4A"/>
                </a:solidFill>
                <a:latin typeface="Calibri"/>
                <a:ea typeface="Calibri"/>
              </a:rPr>
              <a:t>Name, age, diet preference (Veg/Non-Veg/Vegan), medical history via multi-select checkboxes, city, and country for culturally relevant advice.</a:t>
            </a:r>
          </a:p>
        </p:txBody>
      </p:sp>
      <p:sp>
        <p:nvSpPr>
          <p:cNvPr id="100060" name="F2"/>
          <p:cNvSpPr txBox="1"/>
          <p:nvPr/>
        </p:nvSpPr>
        <p:spPr>
          <a:xfrm xmlns:a="http://schemas.openxmlformats.org/drawingml/2006/main">
            <a:off x="6300000" y="864000"/>
            <a:ext cx="5580000" cy="115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500" b="0">
                <a:solidFill>
                  <a:srgbClr val="0A2A4A"/>
                </a:solidFill>
                <a:latin typeface="Calibri"/>
                <a:ea typeface="Calibri"/>
              </a:rPr>
              <a:t>Medical Condition Awareness</a:t>
            </a:r>
          </a:p>
          <a:p xmlns:a="http://schemas.openxmlformats.org/drawingml/2006/main">
            <a:r>
              <a:rPr lang="en-US" sz="1500" b="0">
                <a:solidFill>
                  <a:srgbClr val="0A2A4A"/>
                </a:solidFill>
                <a:latin typeface="Calibri"/>
                <a:ea typeface="Calibri"/>
              </a:rPr>
              <a:t>Adapts plan for Diabetes (low-GI), Blood Pressure (DASH diet), Heart Disease, Thyroid, and Kidney disease with specific food avoidance lists.</a:t>
            </a:r>
          </a:p>
        </p:txBody>
      </p:sp>
      <p:sp>
        <p:nvSpPr>
          <p:cNvPr id="100061" name="F3"/>
          <p:cNvSpPr txBox="1"/>
          <p:nvPr/>
        </p:nvSpPr>
        <p:spPr>
          <a:xfrm xmlns:a="http://schemas.openxmlformats.org/drawingml/2006/main">
            <a:off x="360000" y="2160000"/>
            <a:ext cx="5580000" cy="115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500" b="0">
                <a:solidFill>
                  <a:srgbClr val="0A2A4A"/>
                </a:solidFill>
                <a:latin typeface="Calibri"/>
                <a:ea typeface="Calibri"/>
              </a:rPr>
              <a:t>Full 7-Day Meal Plan</a:t>
            </a:r>
          </a:p>
          <a:p xmlns:a="http://schemas.openxmlformats.org/drawingml/2006/main">
            <a:r>
              <a:rPr lang="en-US" sz="1500" b="0">
                <a:solidFill>
                  <a:srgbClr val="0A2A4A"/>
                </a:solidFill>
                <a:latin typeface="Calibri"/>
                <a:ea typeface="Calibri"/>
              </a:rPr>
              <a:t>Breakfast, mid-morning snack, lunch, evening snack, dinner, and hydration for every day of the week. Rotating varied foods.</a:t>
            </a:r>
          </a:p>
        </p:txBody>
      </p:sp>
      <p:sp>
        <p:nvSpPr>
          <p:cNvPr id="100062" name="F4"/>
          <p:cNvSpPr txBox="1"/>
          <p:nvPr/>
        </p:nvSpPr>
        <p:spPr>
          <a:xfrm xmlns:a="http://schemas.openxmlformats.org/drawingml/2006/main">
            <a:off x="6300000" y="2160000"/>
            <a:ext cx="5580000" cy="115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500" b="0">
                <a:solidFill>
                  <a:srgbClr val="0A2A4A"/>
                </a:solidFill>
                <a:latin typeface="Calibri"/>
                <a:ea typeface="Calibri"/>
              </a:rPr>
              <a:t>NutriGuide Chat Assistant</a:t>
            </a:r>
          </a:p>
          <a:p xmlns:a="http://schemas.openxmlformats.org/drawingml/2006/main">
            <a:r>
              <a:rPr lang="en-US" sz="1500" b="0">
                <a:solidFill>
                  <a:srgbClr val="0A2A4A"/>
                </a:solidFill>
                <a:latin typeface="Calibri"/>
                <a:ea typeface="Calibri"/>
              </a:rPr>
              <a:t>Ask any nutrition question. Context-aware with user profile. Quick question shortcuts. Medical topic detection with automatic disclaimer.</a:t>
            </a:r>
          </a:p>
        </p:txBody>
      </p:sp>
      <p:sp>
        <p:nvSpPr>
          <p:cNvPr id="100063" name="F5"/>
          <p:cNvSpPr txBox="1"/>
          <p:nvPr/>
        </p:nvSpPr>
        <p:spPr>
          <a:xfrm xmlns:a="http://schemas.openxmlformats.org/drawingml/2006/main">
            <a:off x="360000" y="3456000"/>
            <a:ext cx="5580000" cy="115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500" b="0">
                <a:solidFill>
                  <a:srgbClr val="0A2A4A"/>
                </a:solidFill>
                <a:latin typeface="Calibri"/>
                <a:ea typeface="Calibri"/>
              </a:rPr>
              <a:t>Auto-Save Markdown Plans</a:t>
            </a:r>
          </a:p>
          <a:p xmlns:a="http://schemas.openxmlformats.org/drawingml/2006/main">
            <a:r>
              <a:rPr lang="en-US" sz="1500" b="0">
                <a:solidFill>
                  <a:srgbClr val="0A2A4A"/>
                </a:solidFill>
                <a:latin typeface="Calibri"/>
                <a:ea typeface="Calibri"/>
              </a:rPr>
              <a:t>Every generated plan automatically saved as nutrition_plan_&lt;name&gt;_&lt;timestamp&gt;.md. Downloadable from the Saved Plans tab in the UI.</a:t>
            </a:r>
          </a:p>
        </p:txBody>
      </p:sp>
      <p:sp>
        <p:nvSpPr>
          <p:cNvPr id="100064" name="F6"/>
          <p:cNvSpPr txBox="1"/>
          <p:nvPr/>
        </p:nvSpPr>
        <p:spPr>
          <a:xfrm xmlns:a="http://schemas.openxmlformats.org/drawingml/2006/main">
            <a:off x="6300000" y="3456000"/>
            <a:ext cx="5580000" cy="115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500" b="0">
                <a:solidFill>
                  <a:srgbClr val="0A2A4A"/>
                </a:solidFill>
                <a:latin typeface="Calibri"/>
                <a:ea typeface="Calibri"/>
              </a:rPr>
              <a:t>IBM Granite LLM Integration</a:t>
            </a:r>
          </a:p>
          <a:p xmlns:a="http://schemas.openxmlformats.org/drawingml/2006/main">
            <a:r>
              <a:rPr lang="en-US" sz="1500" b="0">
                <a:solidFill>
                  <a:srgbClr val="0A2A4A"/>
                </a:solidFill>
                <a:latin typeface="Calibri"/>
                <a:ea typeface="Calibri"/>
              </a:rPr>
              <a:t>ibm/granite-13b-instruct-v2 generates personalized narrative. Demo mode for no-API-key environments. All agentic steps work in demo mode.</a:t>
            </a:r>
          </a:p>
        </p:txBody>
      </p:sp>
      <p:sp>
        <p:nvSpPr>
          <p:cNvPr id="100065" name="F7"/>
          <p:cNvSpPr txBox="1"/>
          <p:nvPr/>
        </p:nvSpPr>
        <p:spPr>
          <a:xfrm xmlns:a="http://schemas.openxmlformats.org/drawingml/2006/main">
            <a:off x="360000" y="4752000"/>
            <a:ext cx="5580000" cy="115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500" b="0">
                <a:solidFill>
                  <a:srgbClr val="0A2A4A"/>
                </a:solidFill>
                <a:latin typeface="Calibri"/>
                <a:ea typeface="Calibri"/>
              </a:rPr>
              <a:t>Nutritional Targets Dashboard</a:t>
            </a:r>
          </a:p>
          <a:p xmlns:a="http://schemas.openxmlformats.org/drawingml/2006/main">
            <a:r>
              <a:rPr lang="en-US" sz="1500" b="0">
                <a:solidFill>
                  <a:srgbClr val="0A2A4A"/>
                </a:solidFill>
                <a:latin typeface="Calibri"/>
                <a:ea typeface="Calibri"/>
              </a:rPr>
              <a:t>Daily calories, protein (g), carbs (g), fat (g), fiber (g), and water (L) calculated per age group using Mifflin-St Jeor estimation.</a:t>
            </a:r>
          </a:p>
        </p:txBody>
      </p:sp>
      <p:sp>
        <p:nvSpPr>
          <p:cNvPr id="100066" name="F8"/>
          <p:cNvSpPr txBox="1"/>
          <p:nvPr/>
        </p:nvSpPr>
        <p:spPr>
          <a:xfrm xmlns:a="http://schemas.openxmlformats.org/drawingml/2006/main">
            <a:off x="6300000" y="4752000"/>
            <a:ext cx="5580000" cy="115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500" b="0">
                <a:solidFill>
                  <a:srgbClr val="0A2A4A"/>
                </a:solidFill>
                <a:latin typeface="Calibri"/>
                <a:ea typeface="Calibri"/>
              </a:rPr>
              <a:t>Responsive Dark Theme UI</a:t>
            </a:r>
          </a:p>
          <a:p xmlns:a="http://schemas.openxmlformats.org/drawingml/2006/main">
            <a:r>
              <a:rPr lang="en-US" sz="1500" b="0">
                <a:solidFill>
                  <a:srgbClr val="0A2A4A"/>
                </a:solidFill>
                <a:latin typeface="Calibri"/>
                <a:ea typeface="Calibri"/>
              </a:rPr>
              <a:t>Full dark-mode single-page application. Works on desktop and mobile browsers. No external JS framework dependencies.</a:t>
            </a:r>
          </a:p>
        </p:txBody>
      </p:sp>
      <p:sp>
        <p:nvSpPr>
          <p:cNvPr id="100067" name="BottomBar"/>
          <p:cNvSpPr txBox="1"/>
          <p:nvPr/>
        </p:nvSpPr>
        <p:spPr>
          <a:xfrm xmlns:a="http://schemas.openxmlformats.org/drawingml/2006/main">
            <a:off x="0" y="6660000"/>
            <a:ext cx="12193200" cy="18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6B3C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 sz="800">
              <a:solidFill>
                <a:srgbClr val="1A6B3C"/>
              </a:solidFill>
            </a:endParaRPr>
          </a:p>
        </p:txBody>
      </p:sp>
    </p:spTree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A2A4A"/>
        </a:solidFill>
      </p:bgPr>
    </p:bg>
    <p:spTree>
      <p:nvGrpSpPr>
        <p:cNvPr id="1" name=""/>
        <p:cNvGrpSpPr/>
        <p:nvPr/>
      </p:nvGrpSpPr>
      <p:grpSpPr/>
      <p:sp>
        <p:nvSpPr>
          <p:cNvPr id="100068" name="HeaderBar"/>
          <p:cNvSpPr txBox="1"/>
          <p:nvPr/>
        </p:nvSpPr>
        <p:spPr>
          <a:xfrm xmlns:a="http://schemas.openxmlformats.org/drawingml/2006/main">
            <a:off x="0" y="0"/>
            <a:ext cx="12193200" cy="72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6B3C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 sz="800">
              <a:solidFill>
                <a:srgbClr val="1A6B3C"/>
              </a:solidFill>
            </a:endParaRPr>
          </a:p>
        </p:txBody>
      </p:sp>
      <p:sp>
        <p:nvSpPr>
          <p:cNvPr id="100069" name="SlideTitle"/>
          <p:cNvSpPr txBox="1"/>
          <p:nvPr/>
        </p:nvSpPr>
        <p:spPr>
          <a:xfrm xmlns:a="http://schemas.openxmlformats.org/drawingml/2006/main">
            <a:off x="540000" y="108000"/>
            <a:ext cx="10080000" cy="50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3000" b="1">
                <a:solidFill>
                  <a:srgbClr val="FFFFFF"/>
                </a:solidFill>
                <a:latin typeface="Calibri"/>
                <a:ea typeface="Calibri"/>
              </a:rPr>
              <a:t>Sample Output — Nutrition Plan (Demo User)</a:t>
            </a:r>
          </a:p>
        </p:txBody>
      </p:sp>
      <p:sp>
        <p:nvSpPr>
          <p:cNvPr id="100070" name="SlideNum"/>
          <p:cNvSpPr txBox="1"/>
          <p:nvPr/>
        </p:nvSpPr>
        <p:spPr>
          <a:xfrm xmlns:a="http://schemas.openxmlformats.org/drawingml/2006/main">
            <a:off x="10800000" y="144000"/>
            <a:ext cx="720000" cy="3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000" b="0">
                <a:solidFill>
                  <a:srgbClr val="FFFFFF"/>
                </a:solidFill>
                <a:latin typeface="Calibri"/>
                <a:ea typeface="Calibri"/>
              </a:rPr>
              <a:t>7</a:t>
            </a:r>
          </a:p>
        </p:txBody>
      </p:sp>
      <p:sp>
        <p:nvSpPr>
          <p:cNvPr id="100071" name="ProfileHead"/>
          <p:cNvSpPr txBox="1"/>
          <p:nvPr/>
        </p:nvSpPr>
        <p:spPr>
          <a:xfrm xmlns:a="http://schemas.openxmlformats.org/drawingml/2006/main">
            <a:off x="360000" y="864000"/>
            <a:ext cx="3240000" cy="25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6B3C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500" b="1">
                <a:solidFill>
                  <a:srgbClr val="FFFFFF"/>
                </a:solidFill>
                <a:latin typeface="Calibri"/>
                <a:ea typeface="Calibri"/>
              </a:rPr>
              <a:t>USER PROFILE</a:t>
            </a:r>
          </a:p>
        </p:txBody>
      </p:sp>
      <p:sp>
        <p:nvSpPr>
          <p:cNvPr id="100072" name="ProfileData"/>
          <p:cNvSpPr txBox="1"/>
          <p:nvPr/>
        </p:nvSpPr>
        <p:spPr>
          <a:xfrm xmlns:a="http://schemas.openxmlformats.org/drawingml/2006/main">
            <a:off x="360000" y="1152000"/>
            <a:ext cx="3240000" cy="180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3A5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500" b="0">
                <a:solidFill>
                  <a:srgbClr val="FFFFFF"/>
                </a:solidFill>
                <a:latin typeface="Calibri"/>
                <a:ea typeface="Calibri"/>
              </a:rPr>
              <a:t>Name: Demo User</a:t>
            </a:r>
          </a:p>
          <a:p xmlns:a="http://schemas.openxmlformats.org/drawingml/2006/main">
            <a:r>
              <a:rPr lang="en-US" sz="1500" b="0">
                <a:solidFill>
                  <a:srgbClr val="FFFFFF"/>
                </a:solidFill>
                <a:latin typeface="Calibri"/>
                <a:ea typeface="Calibri"/>
              </a:rPr>
              <a:t>Age: 35 years</a:t>
            </a:r>
          </a:p>
          <a:p xmlns:a="http://schemas.openxmlformats.org/drawingml/2006/main">
            <a:r>
              <a:rPr lang="en-US" sz="1500" b="0">
                <a:solidFill>
                  <a:srgbClr val="FFFFFF"/>
                </a:solidFill>
                <a:latin typeface="Calibri"/>
                <a:ea typeface="Calibri"/>
              </a:rPr>
              <a:t>Diet: Vegetarian</a:t>
            </a:r>
          </a:p>
          <a:p xmlns:a="http://schemas.openxmlformats.org/drawingml/2006/main">
            <a:r>
              <a:rPr lang="en-US" sz="1500" b="0">
                <a:solidFill>
                  <a:srgbClr val="FFFFFF"/>
                </a:solidFill>
                <a:latin typeface="Calibri"/>
                <a:ea typeface="Calibri"/>
              </a:rPr>
              <a:t>Condition: Diabetes</a:t>
            </a:r>
          </a:p>
          <a:p xmlns:a="http://schemas.openxmlformats.org/drawingml/2006/main">
            <a:r>
              <a:rPr lang="en-US" sz="1500" b="0">
                <a:solidFill>
                  <a:srgbClr val="FFFFFF"/>
                </a:solidFill>
                <a:latin typeface="Calibri"/>
                <a:ea typeface="Calibri"/>
              </a:rPr>
              <a:t>Location: Mumbai, India</a:t>
            </a:r>
          </a:p>
          <a:p xmlns:a="http://schemas.openxmlformats.org/drawingml/2006/main">
            <a:r>
              <a:rPr lang="en-US" sz="1500" b="0">
                <a:solidFill>
                  <a:srgbClr val="FFFFFF"/>
                </a:solidFill>
                <a:latin typeface="Calibri"/>
                <a:ea typeface="Calibri"/>
              </a:rPr>
              <a:t>Generated: Jan 01, 2025</a:t>
            </a:r>
          </a:p>
        </p:txBody>
      </p:sp>
      <p:sp>
        <p:nvSpPr>
          <p:cNvPr id="100073" name="TargetsHead"/>
          <p:cNvSpPr txBox="1"/>
          <p:nvPr/>
        </p:nvSpPr>
        <p:spPr>
          <a:xfrm xmlns:a="http://schemas.openxmlformats.org/drawingml/2006/main">
            <a:off x="3960000" y="864000"/>
            <a:ext cx="7740000" cy="25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4ADA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500" b="1">
                <a:solidFill>
                  <a:srgbClr val="FFFFFF"/>
                </a:solidFill>
                <a:latin typeface="Calibri"/>
                <a:ea typeface="Calibri"/>
              </a:rPr>
              <a:t>DAILY NUTRITIONAL TARGETS</a:t>
            </a:r>
          </a:p>
        </p:txBody>
      </p:sp>
      <p:sp>
        <p:nvSpPr>
          <p:cNvPr id="100074" name="Cal"/>
          <p:cNvSpPr txBox="1"/>
          <p:nvPr/>
        </p:nvSpPr>
        <p:spPr>
          <a:xfrm xmlns:a="http://schemas.openxmlformats.org/drawingml/2006/main">
            <a:off x="3960000" y="1152000"/>
            <a:ext cx="1440000" cy="82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4057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500" b="0">
                <a:solidFill>
                  <a:srgbClr val="FFDD57"/>
                </a:solidFill>
                <a:latin typeface="Calibri"/>
                <a:ea typeface="Calibri"/>
              </a:rPr>
              <a:t>Calories</a:t>
            </a:r>
          </a:p>
          <a:p xmlns:a="http://schemas.openxmlformats.org/drawingml/2006/main">
            <a:r>
              <a:rPr lang="en-US" sz="1500" b="0">
                <a:solidFill>
                  <a:srgbClr val="FFDD57"/>
                </a:solidFill>
                <a:latin typeface="Calibri"/>
                <a:ea typeface="Calibri"/>
              </a:rPr>
              <a:t>1900 kcal</a:t>
            </a:r>
          </a:p>
        </p:txBody>
      </p:sp>
      <p:sp>
        <p:nvSpPr>
          <p:cNvPr id="100075" name="Pro"/>
          <p:cNvSpPr txBox="1"/>
          <p:nvPr/>
        </p:nvSpPr>
        <p:spPr>
          <a:xfrm xmlns:a="http://schemas.openxmlformats.org/drawingml/2006/main">
            <a:off x="5580000" y="1152000"/>
            <a:ext cx="1440000" cy="82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4057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500" b="0">
                <a:solidFill>
                  <a:srgbClr val="7EC8E3"/>
                </a:solidFill>
                <a:latin typeface="Calibri"/>
                <a:ea typeface="Calibri"/>
              </a:rPr>
              <a:t>Protein</a:t>
            </a:r>
          </a:p>
          <a:p xmlns:a="http://schemas.openxmlformats.org/drawingml/2006/main">
            <a:r>
              <a:rPr lang="en-US" sz="1500" b="0">
                <a:solidFill>
                  <a:srgbClr val="7EC8E3"/>
                </a:solidFill>
                <a:latin typeface="Calibri"/>
                <a:ea typeface="Calibri"/>
              </a:rPr>
              <a:t>119 g</a:t>
            </a:r>
          </a:p>
        </p:txBody>
      </p:sp>
      <p:sp>
        <p:nvSpPr>
          <p:cNvPr id="100076" name="Car"/>
          <p:cNvSpPr txBox="1"/>
          <p:nvPr/>
        </p:nvSpPr>
        <p:spPr>
          <a:xfrm xmlns:a="http://schemas.openxmlformats.org/drawingml/2006/main">
            <a:off x="7200000" y="1152000"/>
            <a:ext cx="1440000" cy="82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4057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500" b="0">
                <a:solidFill>
                  <a:srgbClr val="A8E6CF"/>
                </a:solidFill>
                <a:latin typeface="Calibri"/>
                <a:ea typeface="Calibri"/>
              </a:rPr>
              <a:t>Carbs</a:t>
            </a:r>
          </a:p>
          <a:p xmlns:a="http://schemas.openxmlformats.org/drawingml/2006/main">
            <a:r>
              <a:rPr lang="en-US" sz="1500" b="0">
                <a:solidFill>
                  <a:srgbClr val="A8E6CF"/>
                </a:solidFill>
                <a:latin typeface="Calibri"/>
                <a:ea typeface="Calibri"/>
              </a:rPr>
              <a:t>214 g</a:t>
            </a:r>
          </a:p>
        </p:txBody>
      </p:sp>
      <p:sp>
        <p:nvSpPr>
          <p:cNvPr id="100077" name="Fat"/>
          <p:cNvSpPr txBox="1"/>
          <p:nvPr/>
        </p:nvSpPr>
        <p:spPr>
          <a:xfrm xmlns:a="http://schemas.openxmlformats.org/drawingml/2006/main">
            <a:off x="8820000" y="1152000"/>
            <a:ext cx="1440000" cy="82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4057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500" b="0">
                <a:solidFill>
                  <a:srgbClr val="FFB347"/>
                </a:solidFill>
                <a:latin typeface="Calibri"/>
                <a:ea typeface="Calibri"/>
              </a:rPr>
              <a:t>Fat</a:t>
            </a:r>
          </a:p>
          <a:p xmlns:a="http://schemas.openxmlformats.org/drawingml/2006/main">
            <a:r>
              <a:rPr lang="en-US" sz="1500" b="0">
                <a:solidFill>
                  <a:srgbClr val="FFB347"/>
                </a:solidFill>
                <a:latin typeface="Calibri"/>
                <a:ea typeface="Calibri"/>
              </a:rPr>
              <a:t>63 g</a:t>
            </a:r>
          </a:p>
        </p:txBody>
      </p:sp>
      <p:sp>
        <p:nvSpPr>
          <p:cNvPr id="100078" name="Fib"/>
          <p:cNvSpPr txBox="1"/>
          <p:nvPr/>
        </p:nvSpPr>
        <p:spPr>
          <a:xfrm xmlns:a="http://schemas.openxmlformats.org/drawingml/2006/main">
            <a:off x="10440000" y="1152000"/>
            <a:ext cx="1260000" cy="82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4057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500" b="0">
                <a:solidFill>
                  <a:srgbClr val="DDA0DD"/>
                </a:solidFill>
                <a:latin typeface="Calibri"/>
                <a:ea typeface="Calibri"/>
              </a:rPr>
              <a:t>Fiber</a:t>
            </a:r>
          </a:p>
          <a:p xmlns:a="http://schemas.openxmlformats.org/drawingml/2006/main">
            <a:r>
              <a:rPr lang="en-US" sz="1500" b="0">
                <a:solidFill>
                  <a:srgbClr val="DDA0DD"/>
                </a:solidFill>
                <a:latin typeface="Calibri"/>
                <a:ea typeface="Calibri"/>
              </a:rPr>
              <a:t>25 g</a:t>
            </a:r>
          </a:p>
        </p:txBody>
      </p:sp>
      <p:sp>
        <p:nvSpPr>
          <p:cNvPr id="100079" name="MealPlanHead"/>
          <p:cNvSpPr txBox="1"/>
          <p:nvPr/>
        </p:nvSpPr>
        <p:spPr>
          <a:xfrm xmlns:a="http://schemas.openxmlformats.org/drawingml/2006/main">
            <a:off x="360000" y="2160000"/>
            <a:ext cx="11340000" cy="25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6B3C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500" b="1">
                <a:solidFill>
                  <a:srgbClr val="FFFFFF"/>
                </a:solidFill>
                <a:latin typeface="Calibri"/>
                <a:ea typeface="Calibri"/>
              </a:rPr>
              <a:t>7-DAY MEAL PLAN (MON &amp; TUE SHOWN)</a:t>
            </a:r>
          </a:p>
        </p:txBody>
      </p:sp>
      <p:sp>
        <p:nvSpPr>
          <p:cNvPr id="100080" name="MonHead"/>
          <p:cNvSpPr txBox="1"/>
          <p:nvPr/>
        </p:nvSpPr>
        <p:spPr>
          <a:xfrm xmlns:a="http://schemas.openxmlformats.org/drawingml/2006/main">
            <a:off x="360000" y="2520000"/>
            <a:ext cx="5580000" cy="21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4ADA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 b="1">
                <a:solidFill>
                  <a:srgbClr val="FFFFFF"/>
                </a:solidFill>
                <a:latin typeface="Calibri"/>
                <a:ea typeface="Calibri"/>
              </a:rPr>
              <a:t>MONDAY</a:t>
            </a:r>
          </a:p>
        </p:txBody>
      </p:sp>
      <p:sp>
        <p:nvSpPr>
          <p:cNvPr id="100081" name="MonData"/>
          <p:cNvSpPr txBox="1"/>
          <p:nvPr/>
        </p:nvSpPr>
        <p:spPr>
          <a:xfrm xmlns:a="http://schemas.openxmlformats.org/drawingml/2006/main">
            <a:off x="360000" y="2772000"/>
            <a:ext cx="5580000" cy="151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3A5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 b="0">
                <a:solidFill>
                  <a:srgbClr val="FFFFFF"/>
                </a:solidFill>
                <a:latin typeface="Calibri"/>
                <a:ea typeface="Calibri"/>
              </a:rPr>
              <a:t>Breakfast: Oats (half cup) + lentils 100g + spinach + green tea</a:t>
            </a:r>
          </a:p>
          <a:p xmlns:a="http://schemas.openxmlformats.org/drawingml/2006/main">
            <a:r>
              <a:rPr lang="en-US" sz="1300" b="0">
                <a:solidFill>
                  <a:srgbClr val="FFFFFF"/>
                </a:solidFill>
                <a:latin typeface="Calibri"/>
                <a:ea typeface="Calibri"/>
              </a:rPr>
              <a:t>Mid-Morning: Handful of avocado + apple/pear (avoid banana)</a:t>
            </a:r>
          </a:p>
          <a:p xmlns:a="http://schemas.openxmlformats.org/drawingml/2006/main">
            <a:r>
              <a:rPr lang="en-US" sz="1300" b="0">
                <a:solidFill>
                  <a:srgbClr val="FFFFFF"/>
                </a:solidFill>
                <a:latin typeface="Calibri"/>
                <a:ea typeface="Calibri"/>
              </a:rPr>
              <a:t>Lunch: Lentils 150g + spinach &amp; broccoli salad + oats + water</a:t>
            </a:r>
          </a:p>
          <a:p xmlns:a="http://schemas.openxmlformats.org/drawingml/2006/main">
            <a:r>
              <a:rPr lang="en-US" sz="1300" b="0">
                <a:solidFill>
                  <a:srgbClr val="FFFFFF"/>
                </a:solidFill>
                <a:latin typeface="Calibri"/>
                <a:ea typeface="Calibri"/>
              </a:rPr>
              <a:t>Evening: Herbal tea + avocado + cucumber slices</a:t>
            </a:r>
          </a:p>
          <a:p xmlns:a="http://schemas.openxmlformats.org/drawingml/2006/main">
            <a:r>
              <a:rPr lang="en-US" sz="1300" b="0">
                <a:solidFill>
                  <a:srgbClr val="FFFFFF"/>
                </a:solidFill>
                <a:latin typeface="Calibri"/>
                <a:ea typeface="Calibri"/>
              </a:rPr>
              <a:t>Dinner: Steamed broccoli + lentils 100g + light soup + oats</a:t>
            </a:r>
          </a:p>
        </p:txBody>
      </p:sp>
      <p:sp>
        <p:nvSpPr>
          <p:cNvPr id="100082" name="TueHead"/>
          <p:cNvSpPr txBox="1"/>
          <p:nvPr/>
        </p:nvSpPr>
        <p:spPr>
          <a:xfrm xmlns:a="http://schemas.openxmlformats.org/drawingml/2006/main">
            <a:off x="6300000" y="2520000"/>
            <a:ext cx="5400000" cy="21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4ADA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 b="1">
                <a:solidFill>
                  <a:srgbClr val="FFFFFF"/>
                </a:solidFill>
                <a:latin typeface="Calibri"/>
                <a:ea typeface="Calibri"/>
              </a:rPr>
              <a:t>TUESDAY</a:t>
            </a:r>
          </a:p>
        </p:txBody>
      </p:sp>
      <p:sp>
        <p:nvSpPr>
          <p:cNvPr id="100083" name="TueData"/>
          <p:cNvSpPr txBox="1"/>
          <p:nvPr/>
        </p:nvSpPr>
        <p:spPr>
          <a:xfrm xmlns:a="http://schemas.openxmlformats.org/drawingml/2006/main">
            <a:off x="6300000" y="2772000"/>
            <a:ext cx="5400000" cy="151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3A5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 b="0">
                <a:solidFill>
                  <a:srgbClr val="FFFFFF"/>
                </a:solidFill>
                <a:latin typeface="Calibri"/>
                <a:ea typeface="Calibri"/>
              </a:rPr>
              <a:t>Breakfast: Whole wheat bread (half cup) + chickpeas 100g + carrots + green tea</a:t>
            </a:r>
          </a:p>
          <a:p xmlns:a="http://schemas.openxmlformats.org/drawingml/2006/main">
            <a:r>
              <a:rPr lang="en-US" sz="1300" b="0">
                <a:solidFill>
                  <a:srgbClr val="FFFFFF"/>
                </a:solidFill>
                <a:latin typeface="Calibri"/>
                <a:ea typeface="Calibri"/>
              </a:rPr>
              <a:t>Mid-Morning: Handful of almonds + apple/pear (avoid banana)</a:t>
            </a:r>
          </a:p>
          <a:p xmlns:a="http://schemas.openxmlformats.org/drawingml/2006/main">
            <a:r>
              <a:rPr lang="en-US" sz="1300" b="0">
                <a:solidFill>
                  <a:srgbClr val="FFFFFF"/>
                </a:solidFill>
                <a:latin typeface="Calibri"/>
                <a:ea typeface="Calibri"/>
              </a:rPr>
              <a:t>Lunch: Chickpeas 150g + carrots &amp; bell peppers + whole wheat bread + water</a:t>
            </a:r>
          </a:p>
          <a:p xmlns:a="http://schemas.openxmlformats.org/drawingml/2006/main">
            <a:r>
              <a:rPr lang="en-US" sz="1300" b="0">
                <a:solidFill>
                  <a:srgbClr val="FFFFFF"/>
                </a:solidFill>
                <a:latin typeface="Calibri"/>
                <a:ea typeface="Calibri"/>
              </a:rPr>
              <a:t>Evening: Herbal tea + almonds + cucumber slices</a:t>
            </a:r>
          </a:p>
          <a:p xmlns:a="http://schemas.openxmlformats.org/drawingml/2006/main">
            <a:r>
              <a:rPr lang="en-US" sz="1300" b="0">
                <a:solidFill>
                  <a:srgbClr val="FFFFFF"/>
                </a:solidFill>
                <a:latin typeface="Calibri"/>
                <a:ea typeface="Calibri"/>
              </a:rPr>
              <a:t>Dinner: Steamed bell peppers + chickpeas 100g + light soup + bread</a:t>
            </a:r>
          </a:p>
        </p:txBody>
      </p:sp>
      <p:sp>
        <p:nvSpPr>
          <p:cNvPr id="100084" name="DiabetesNote"/>
          <p:cNvSpPr txBox="1"/>
          <p:nvPr/>
        </p:nvSpPr>
        <p:spPr>
          <a:xfrm xmlns:a="http://schemas.openxmlformats.org/drawingml/2006/main">
            <a:off x="360000" y="4428000"/>
            <a:ext cx="11340000" cy="43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392B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 b="0">
                <a:solidFill>
                  <a:srgbClr val="FFFFFF"/>
                </a:solidFill>
                <a:latin typeface="Calibri"/>
                <a:ea typeface="Calibri"/>
              </a:rPr>
              <a:t>DIABETES ADAPTATION: Carbs capped at half cup per meal  |  Low-GI foods prioritized  |  Banana excluded  |  Meals spaced every 3-4 hours</a:t>
            </a:r>
          </a:p>
        </p:txBody>
      </p:sp>
    </p:spTree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100085" name="HeaderBar"/>
          <p:cNvSpPr txBox="1"/>
          <p:nvPr/>
        </p:nvSpPr>
        <p:spPr>
          <a:xfrm xmlns:a="http://schemas.openxmlformats.org/drawingml/2006/main">
            <a:off x="0" y="0"/>
            <a:ext cx="12193200" cy="72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2A4A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 sz="800">
              <a:solidFill>
                <a:srgbClr val="0A2A4A"/>
              </a:solidFill>
            </a:endParaRPr>
          </a:p>
        </p:txBody>
      </p:sp>
      <p:sp>
        <p:nvSpPr>
          <p:cNvPr id="100086" name="SlideTitle"/>
          <p:cNvSpPr txBox="1"/>
          <p:nvPr/>
        </p:nvSpPr>
        <p:spPr>
          <a:xfrm xmlns:a="http://schemas.openxmlformats.org/drawingml/2006/main">
            <a:off x="540000" y="108000"/>
            <a:ext cx="10080000" cy="50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3000" b="1">
                <a:solidFill>
                  <a:srgbClr val="FFFFFF"/>
                </a:solidFill>
                <a:latin typeface="Calibri"/>
                <a:ea typeface="Calibri"/>
              </a:rPr>
              <a:t>Nutrition Database &amp; Medical Adaptations</a:t>
            </a:r>
          </a:p>
        </p:txBody>
      </p:sp>
      <p:sp>
        <p:nvSpPr>
          <p:cNvPr id="100087" name="SlideNum"/>
          <p:cNvSpPr txBox="1"/>
          <p:nvPr/>
        </p:nvSpPr>
        <p:spPr>
          <a:xfrm xmlns:a="http://schemas.openxmlformats.org/drawingml/2006/main">
            <a:off x="10800000" y="144000"/>
            <a:ext cx="720000" cy="3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000" b="0">
                <a:solidFill>
                  <a:srgbClr val="7EC8E3"/>
                </a:solidFill>
                <a:latin typeface="Calibri"/>
                <a:ea typeface="Calibri"/>
              </a:rPr>
              <a:t>8</a:t>
            </a:r>
          </a:p>
        </p:txBody>
      </p:sp>
      <p:sp>
        <p:nvSpPr>
          <p:cNvPr id="100088" name="DBHead"/>
          <p:cNvSpPr txBox="1"/>
          <p:nvPr/>
        </p:nvSpPr>
        <p:spPr>
          <a:xfrm xmlns:a="http://schemas.openxmlformats.org/drawingml/2006/main">
            <a:off x="360000" y="864000"/>
            <a:ext cx="11340000" cy="25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2A4A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700" b="1">
                <a:solidFill>
                  <a:srgbClr val="FFFFFF"/>
                </a:solidFill>
                <a:latin typeface="Calibri"/>
                <a:ea typeface="Calibri"/>
              </a:rPr>
              <a:t>NUTRITION DATABASE (Built-In)</a:t>
            </a:r>
          </a:p>
        </p:txBody>
      </p:sp>
      <p:sp>
        <p:nvSpPr>
          <p:cNvPr id="100089" name="Veg"/>
          <p:cNvSpPr txBox="1"/>
          <p:nvPr/>
        </p:nvSpPr>
        <p:spPr>
          <a:xfrm xmlns:a="http://schemas.openxmlformats.org/drawingml/2006/main">
            <a:off x="360000" y="1188000"/>
            <a:ext cx="3600000" cy="162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FE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 b="0">
                <a:solidFill>
                  <a:srgbClr val="0A2A4A"/>
                </a:solidFill>
                <a:latin typeface="Calibri"/>
                <a:ea typeface="Calibri"/>
              </a:rPr>
              <a:t>VEGETARIAN</a:t>
            </a:r>
          </a:p>
          <a:p xmlns:a="http://schemas.openxmlformats.org/drawingml/2006/main">
            <a:r>
              <a:rPr lang="en-US" sz="1300" b="0">
                <a:solidFill>
                  <a:srgbClr val="0A2A4A"/>
                </a:solidFill>
                <a:latin typeface="Calibri"/>
                <a:ea typeface="Calibri"/>
              </a:rPr>
              <a:t>Proteins: lentils, chickpeas, tofu, paneer, Greek yogurt, quinoa, edamame, black beans</a:t>
            </a:r>
          </a:p>
          <a:p xmlns:a="http://schemas.openxmlformats.org/drawingml/2006/main">
            <a:r>
              <a:rPr lang="en-US" sz="1300" b="0">
                <a:solidFill>
                  <a:srgbClr val="0A2A4A"/>
                </a:solidFill>
                <a:latin typeface="Calibri"/>
                <a:ea typeface="Calibri"/>
              </a:rPr>
              <a:t>Carbs: brown rice, whole wheat bread, oats, sweet potato, millet, barley</a:t>
            </a:r>
          </a:p>
          <a:p xmlns:a="http://schemas.openxmlformats.org/drawingml/2006/main">
            <a:r>
              <a:rPr lang="en-US" sz="1300" b="0">
                <a:solidFill>
                  <a:srgbClr val="0A2A4A"/>
                </a:solidFill>
                <a:latin typeface="Calibri"/>
                <a:ea typeface="Calibri"/>
              </a:rPr>
              <a:t>Fats: avocado, almonds, walnuts, flaxseeds, olive oil, chia seeds</a:t>
            </a:r>
          </a:p>
          <a:p xmlns:a="http://schemas.openxmlformats.org/drawingml/2006/main">
            <a:r>
              <a:rPr lang="en-US" sz="1300" b="0">
                <a:solidFill>
                  <a:srgbClr val="0A2A4A"/>
                </a:solidFill>
                <a:latin typeface="Calibri"/>
                <a:ea typeface="Calibri"/>
              </a:rPr>
              <a:t>Vegs: spinach, broccoli, carrots, bell peppers, kale, tomatoes, cucumber</a:t>
            </a:r>
          </a:p>
        </p:txBody>
      </p:sp>
      <p:sp>
        <p:nvSpPr>
          <p:cNvPr id="100090" name="NonVeg"/>
          <p:cNvSpPr txBox="1"/>
          <p:nvPr/>
        </p:nvSpPr>
        <p:spPr>
          <a:xfrm xmlns:a="http://schemas.openxmlformats.org/drawingml/2006/main">
            <a:off x="4320000" y="1188000"/>
            <a:ext cx="3600000" cy="162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9E7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 b="0">
                <a:solidFill>
                  <a:srgbClr val="0A2A4A"/>
                </a:solidFill>
                <a:latin typeface="Calibri"/>
                <a:ea typeface="Calibri"/>
              </a:rPr>
              <a:t>NON-VEGETARIAN</a:t>
            </a:r>
          </a:p>
          <a:p xmlns:a="http://schemas.openxmlformats.org/drawingml/2006/main">
            <a:r>
              <a:rPr lang="en-US" sz="1300" b="0">
                <a:solidFill>
                  <a:srgbClr val="0A2A4A"/>
                </a:solidFill>
                <a:latin typeface="Calibri"/>
                <a:ea typeface="Calibri"/>
              </a:rPr>
              <a:t>Proteins: chicken breast, salmon, tuna, eggs, turkey, lean beef, sardines</a:t>
            </a:r>
          </a:p>
          <a:p xmlns:a="http://schemas.openxmlformats.org/drawingml/2006/main">
            <a:r>
              <a:rPr lang="en-US" sz="1300" b="0">
                <a:solidFill>
                  <a:srgbClr val="0A2A4A"/>
                </a:solidFill>
                <a:latin typeface="Calibri"/>
                <a:ea typeface="Calibri"/>
              </a:rPr>
              <a:t>Carbs: brown rice, whole wheat bread, oats, sweet potato, quinoa</a:t>
            </a:r>
          </a:p>
          <a:p xmlns:a="http://schemas.openxmlformats.org/drawingml/2006/main">
            <a:r>
              <a:rPr lang="en-US" sz="1300" b="0">
                <a:solidFill>
                  <a:srgbClr val="0A2A4A"/>
                </a:solidFill>
                <a:latin typeface="Calibri"/>
                <a:ea typeface="Calibri"/>
              </a:rPr>
              <a:t>Fats: salmon (omega-3), avocado, almonds, olive oil, walnuts</a:t>
            </a:r>
          </a:p>
          <a:p xmlns:a="http://schemas.openxmlformats.org/drawingml/2006/main">
            <a:r>
              <a:rPr lang="en-US" sz="1300" b="0">
                <a:solidFill>
                  <a:srgbClr val="0A2A4A"/>
                </a:solidFill>
                <a:latin typeface="Calibri"/>
                <a:ea typeface="Calibri"/>
              </a:rPr>
              <a:t>Vegs: broccoli, spinach, asparagus, zucchini, bell peppers, kale</a:t>
            </a:r>
          </a:p>
        </p:txBody>
      </p:sp>
      <p:sp>
        <p:nvSpPr>
          <p:cNvPr id="100091" name="Vegan"/>
          <p:cNvSpPr txBox="1"/>
          <p:nvPr/>
        </p:nvSpPr>
        <p:spPr>
          <a:xfrm xmlns:a="http://schemas.openxmlformats.org/drawingml/2006/main">
            <a:off x="8280000" y="1188000"/>
            <a:ext cx="3600000" cy="162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 b="0">
                <a:solidFill>
                  <a:srgbClr val="0A2A4A"/>
                </a:solidFill>
                <a:latin typeface="Calibri"/>
                <a:ea typeface="Calibri"/>
              </a:rPr>
              <a:t>VEGAN</a:t>
            </a:r>
          </a:p>
          <a:p xmlns:a="http://schemas.openxmlformats.org/drawingml/2006/main">
            <a:r>
              <a:rPr lang="en-US" sz="1300" b="0">
                <a:solidFill>
                  <a:srgbClr val="0A2A4A"/>
                </a:solidFill>
                <a:latin typeface="Calibri"/>
                <a:ea typeface="Calibri"/>
              </a:rPr>
              <a:t>Proteins: lentils, chickpeas, tofu, tempeh, seitan, hemp seeds, spirulina</a:t>
            </a:r>
          </a:p>
          <a:p xmlns:a="http://schemas.openxmlformats.org/drawingml/2006/main">
            <a:r>
              <a:rPr lang="en-US" sz="1300" b="0">
                <a:solidFill>
                  <a:srgbClr val="0A2A4A"/>
                </a:solidFill>
                <a:latin typeface="Calibri"/>
                <a:ea typeface="Calibri"/>
              </a:rPr>
              <a:t>Carbs: brown rice, oats, quinoa, sweet potato, whole grain pasta</a:t>
            </a:r>
          </a:p>
          <a:p xmlns:a="http://schemas.openxmlformats.org/drawingml/2006/main">
            <a:r>
              <a:rPr lang="en-US" sz="1300" b="0">
                <a:solidFill>
                  <a:srgbClr val="0A2A4A"/>
                </a:solidFill>
                <a:latin typeface="Calibri"/>
                <a:ea typeface="Calibri"/>
              </a:rPr>
              <a:t>Fats: avocado, flaxseeds, chia seeds, walnuts, coconut, sunflower seeds</a:t>
            </a:r>
          </a:p>
          <a:p xmlns:a="http://schemas.openxmlformats.org/drawingml/2006/main">
            <a:r>
              <a:rPr lang="en-US" sz="1300" b="0">
                <a:solidFill>
                  <a:srgbClr val="0A2A4A"/>
                </a:solidFill>
                <a:latin typeface="Calibri"/>
                <a:ea typeface="Calibri"/>
              </a:rPr>
              <a:t>Vegs: kale, spinach, broccoli, Brussels sprouts, carrots, beets</a:t>
            </a:r>
          </a:p>
        </p:txBody>
      </p:sp>
      <p:sp>
        <p:nvSpPr>
          <p:cNvPr id="100092" name="MedHead"/>
          <p:cNvSpPr txBox="1"/>
          <p:nvPr/>
        </p:nvSpPr>
        <p:spPr>
          <a:xfrm xmlns:a="http://schemas.openxmlformats.org/drawingml/2006/main">
            <a:off x="360000" y="2952000"/>
            <a:ext cx="11340000" cy="25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392B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700" b="1">
                <a:solidFill>
                  <a:srgbClr val="FFFFFF"/>
                </a:solidFill>
                <a:latin typeface="Calibri"/>
                <a:ea typeface="Calibri"/>
              </a:rPr>
              <a:t>MEDICAL ADAPTATIONS (Condition-Specific Rules)</a:t>
            </a:r>
          </a:p>
        </p:txBody>
      </p:sp>
      <p:sp>
        <p:nvSpPr>
          <p:cNvPr id="100093" name="Diabetes"/>
          <p:cNvSpPr txBox="1"/>
          <p:nvPr/>
        </p:nvSpPr>
        <p:spPr>
          <a:xfrm xmlns:a="http://schemas.openxmlformats.org/drawingml/2006/main">
            <a:off x="360000" y="3276000"/>
            <a:ext cx="5400000" cy="162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EDEC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 b="0">
                <a:solidFill>
                  <a:srgbClr val="0A2A4A"/>
                </a:solidFill>
                <a:latin typeface="Calibri"/>
                <a:ea typeface="Calibri"/>
              </a:rPr>
              <a:t>DIABETES</a:t>
            </a:r>
          </a:p>
          <a:p xmlns:a="http://schemas.openxmlformats.org/drawingml/2006/main">
            <a:r>
              <a:rPr lang="en-US" sz="1300" b="0">
                <a:solidFill>
                  <a:srgbClr val="0A2A4A"/>
                </a:solidFill>
                <a:latin typeface="Calibri"/>
                <a:ea typeface="Calibri"/>
              </a:rPr>
              <a:t>AVOID: white rice, white bread, sugary drinks, candy, pastries, fruit juice, white potato</a:t>
            </a:r>
          </a:p>
          <a:p xmlns:a="http://schemas.openxmlformats.org/drawingml/2006/main">
            <a:r>
              <a:rPr lang="en-US" sz="1300" b="0">
                <a:solidFill>
                  <a:srgbClr val="0A2A4A"/>
                </a:solidFill>
                <a:latin typeface="Calibri"/>
                <a:ea typeface="Calibri"/>
              </a:rPr>
              <a:t>PREFER: low-GI foods, fiber-rich veg, lean proteins, nuts, whole grains</a:t>
            </a:r>
          </a:p>
          <a:p xmlns:a="http://schemas.openxmlformats.org/drawingml/2006/main">
            <a:r>
              <a:rPr lang="en-US" sz="1300" b="0">
                <a:solidFill>
                  <a:srgbClr val="0A2A4A"/>
                </a:solidFill>
                <a:latin typeface="Calibri"/>
                <a:ea typeface="Calibri"/>
              </a:rPr>
              <a:t>TIPS: Space meals 3-4h | Limit carbs 45-60g/meal | Monitor blood glucose | Complex over simple carbs</a:t>
            </a:r>
          </a:p>
        </p:txBody>
      </p:sp>
      <p:sp>
        <p:nvSpPr>
          <p:cNvPr id="100094" name="BP"/>
          <p:cNvSpPr txBox="1"/>
          <p:nvPr/>
        </p:nvSpPr>
        <p:spPr>
          <a:xfrm xmlns:a="http://schemas.openxmlformats.org/drawingml/2006/main">
            <a:off x="6300000" y="3276000"/>
            <a:ext cx="5400000" cy="162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F5FB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 b="0">
                <a:solidFill>
                  <a:srgbClr val="0A2A4A"/>
                </a:solidFill>
                <a:latin typeface="Calibri"/>
                <a:ea typeface="Calibri"/>
              </a:rPr>
              <a:t>BLOOD PRESSURE</a:t>
            </a:r>
          </a:p>
          <a:p xmlns:a="http://schemas.openxmlformats.org/drawingml/2006/main">
            <a:r>
              <a:rPr lang="en-US" sz="1300" b="0">
                <a:solidFill>
                  <a:srgbClr val="0A2A4A"/>
                </a:solidFill>
                <a:latin typeface="Calibri"/>
                <a:ea typeface="Calibri"/>
              </a:rPr>
              <a:t>AVOID: excess salt &gt;1500mg/day, processed meats, canned soups, pickles, alcohol, caffeine</a:t>
            </a:r>
          </a:p>
          <a:p xmlns:a="http://schemas.openxmlformats.org/drawingml/2006/main">
            <a:r>
              <a:rPr lang="en-US" sz="1300" b="0">
                <a:solidFill>
                  <a:srgbClr val="0A2A4A"/>
                </a:solidFill>
                <a:latin typeface="Calibri"/>
                <a:ea typeface="Calibri"/>
              </a:rPr>
              <a:t>PREFER: potassium-rich foods, DASH diet, low-sodium, magnesium-rich foods</a:t>
            </a:r>
          </a:p>
          <a:p xmlns:a="http://schemas.openxmlformats.org/drawingml/2006/main">
            <a:r>
              <a:rPr lang="en-US" sz="1300" b="0">
                <a:solidFill>
                  <a:srgbClr val="0A2A4A"/>
                </a:solidFill>
                <a:latin typeface="Calibri"/>
                <a:ea typeface="Calibri"/>
              </a:rPr>
              <a:t>TIPS: Follow DASH diet | Na &lt;1500mg/day | Increase potassium | Omega-3 fatty acids | Limit alcohol</a:t>
            </a:r>
          </a:p>
        </p:txBody>
      </p:sp>
      <p:sp>
        <p:nvSpPr>
          <p:cNvPr id="100095" name="CalcNote"/>
          <p:cNvSpPr txBox="1"/>
          <p:nvPr/>
        </p:nvSpPr>
        <p:spPr>
          <a:xfrm xmlns:a="http://schemas.openxmlformats.org/drawingml/2006/main">
            <a:off x="360000" y="5040000"/>
            <a:ext cx="11340000" cy="5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4FD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 b="0">
                <a:solidFill>
                  <a:srgbClr val="0A2A4A"/>
                </a:solidFill>
                <a:latin typeface="Calibri"/>
                <a:ea typeface="Calibri"/>
              </a:rPr>
              <a:t>CALORIC CALCULATION: Age &lt;18 = 2200 kcal  |  18-29 = 2000 kcal  |  30-49 = 1900 kcal  |  50-64 = 1800 kcal  |  65+ = 1700 kcal  (Mifflin-St Jeor baseline, moderate activity)</a:t>
            </a:r>
          </a:p>
        </p:txBody>
      </p:sp>
      <p:sp>
        <p:nvSpPr>
          <p:cNvPr id="100096" name="BottomBar"/>
          <p:cNvSpPr txBox="1"/>
          <p:nvPr/>
        </p:nvSpPr>
        <p:spPr>
          <a:xfrm xmlns:a="http://schemas.openxmlformats.org/drawingml/2006/main">
            <a:off x="0" y="6660000"/>
            <a:ext cx="12193200" cy="18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6B3C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 sz="800">
              <a:solidFill>
                <a:srgbClr val="1A6B3C"/>
              </a:solidFill>
            </a:endParaRPr>
          </a:p>
        </p:txBody>
      </p:sp>
    </p:spTree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A2A4A"/>
        </a:solidFill>
      </p:bgPr>
    </p:bg>
    <p:spTree>
      <p:nvGrpSpPr>
        <p:cNvPr id="1" name=""/>
        <p:cNvGrpSpPr/>
        <p:nvPr/>
      </p:nvGrpSpPr>
      <p:grpSpPr/>
      <p:sp>
        <p:nvSpPr>
          <p:cNvPr id="100097" name="HeaderBar"/>
          <p:cNvSpPr txBox="1"/>
          <p:nvPr/>
        </p:nvSpPr>
        <p:spPr>
          <a:xfrm xmlns:a="http://schemas.openxmlformats.org/drawingml/2006/main">
            <a:off x="0" y="0"/>
            <a:ext cx="12193200" cy="72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392B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 sz="800">
              <a:solidFill>
                <a:srgbClr val="C0392B"/>
              </a:solidFill>
            </a:endParaRPr>
          </a:p>
        </p:txBody>
      </p:sp>
      <p:sp>
        <p:nvSpPr>
          <p:cNvPr id="100098" name="SlideTitle"/>
          <p:cNvSpPr txBox="1"/>
          <p:nvPr/>
        </p:nvSpPr>
        <p:spPr>
          <a:xfrm xmlns:a="http://schemas.openxmlformats.org/drawingml/2006/main">
            <a:off x="540000" y="108000"/>
            <a:ext cx="10080000" cy="50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3200" b="1">
                <a:solidFill>
                  <a:srgbClr val="FFFFFF"/>
                </a:solidFill>
                <a:latin typeface="Calibri"/>
                <a:ea typeface="Calibri"/>
              </a:rPr>
              <a:t>AI Ethics &amp; Guardrails System</a:t>
            </a:r>
          </a:p>
        </p:txBody>
      </p:sp>
      <p:sp>
        <p:nvSpPr>
          <p:cNvPr id="100099" name="SlideNum"/>
          <p:cNvSpPr txBox="1"/>
          <p:nvPr/>
        </p:nvSpPr>
        <p:spPr>
          <a:xfrm xmlns:a="http://schemas.openxmlformats.org/drawingml/2006/main">
            <a:off x="10800000" y="144000"/>
            <a:ext cx="720000" cy="3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000" b="0">
                <a:solidFill>
                  <a:srgbClr val="FFFFFF"/>
                </a:solidFill>
                <a:latin typeface="Calibri"/>
                <a:ea typeface="Calibri"/>
              </a:rPr>
              <a:t>9</a:t>
            </a:r>
          </a:p>
        </p:txBody>
      </p:sp>
      <p:sp>
        <p:nvSpPr>
          <p:cNvPr id="100100" name="HAMHead"/>
          <p:cNvSpPr txBox="1"/>
          <p:nvPr/>
        </p:nvSpPr>
        <p:spPr>
          <a:xfrm xmlns:a="http://schemas.openxmlformats.org/drawingml/2006/main">
            <a:off x="360000" y="864000"/>
            <a:ext cx="11340000" cy="28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392B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800" b="1">
                <a:solidFill>
                  <a:srgbClr val="FFFFFF"/>
                </a:solidFill>
                <a:latin typeface="Calibri"/>
                <a:ea typeface="Calibri"/>
              </a:rPr>
              <a:t>HAM PRINCIPLES  (Helpful · Accurate · Medical-safe)</a:t>
            </a:r>
          </a:p>
        </p:txBody>
      </p:sp>
      <p:sp>
        <p:nvSpPr>
          <p:cNvPr id="100101" name="HAMHelp"/>
          <p:cNvSpPr txBox="1"/>
          <p:nvPr/>
        </p:nvSpPr>
        <p:spPr>
          <a:xfrm xmlns:a="http://schemas.openxmlformats.org/drawingml/2006/main">
            <a:off x="360000" y="1224000"/>
            <a:ext cx="3600000" cy="108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3A5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500" b="0">
                <a:solidFill>
                  <a:srgbClr val="7EC8E3"/>
                </a:solidFill>
                <a:latin typeface="Calibri"/>
                <a:ea typeface="Calibri"/>
              </a:rPr>
              <a:t>HELPFUL</a:t>
            </a:r>
          </a:p>
          <a:p xmlns:a="http://schemas.openxmlformats.org/drawingml/2006/main">
            <a:r>
              <a:rPr lang="en-US" sz="1500" b="0">
                <a:solidFill>
                  <a:srgbClr val="7EC8E3"/>
                </a:solidFill>
                <a:latin typeface="Calibri"/>
                <a:ea typeface="Calibri"/>
              </a:rPr>
              <a:t>Evidence-based, practical nutrition guidance tailored to each individual user. Culturally aware. Non-judgmental tone.</a:t>
            </a:r>
          </a:p>
        </p:txBody>
      </p:sp>
      <p:sp>
        <p:nvSpPr>
          <p:cNvPr id="100102" name="HAMAcc"/>
          <p:cNvSpPr txBox="1"/>
          <p:nvPr/>
        </p:nvSpPr>
        <p:spPr>
          <a:xfrm xmlns:a="http://schemas.openxmlformats.org/drawingml/2006/main">
            <a:off x="4320000" y="1224000"/>
            <a:ext cx="3600000" cy="108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3A5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500" b="0">
                <a:solidFill>
                  <a:srgbClr val="A8E6CF"/>
                </a:solidFill>
                <a:latin typeface="Calibri"/>
                <a:ea typeface="Calibri"/>
              </a:rPr>
              <a:t>ACCURATE</a:t>
            </a:r>
          </a:p>
          <a:p xmlns:a="http://schemas.openxmlformats.org/drawingml/2006/main">
            <a:r>
              <a:rPr lang="en-US" sz="1500" b="0">
                <a:solidFill>
                  <a:srgbClr val="A8E6CF"/>
                </a:solidFill>
                <a:latin typeface="Calibri"/>
                <a:ea typeface="Calibri"/>
              </a:rPr>
              <a:t>Relies only on established nutritional science. Never invents or fabricates facts. References real dietary guidelines.</a:t>
            </a:r>
          </a:p>
        </p:txBody>
      </p:sp>
      <p:sp>
        <p:nvSpPr>
          <p:cNvPr id="100103" name="HAMMed"/>
          <p:cNvSpPr txBox="1"/>
          <p:nvPr/>
        </p:nvSpPr>
        <p:spPr>
          <a:xfrm xmlns:a="http://schemas.openxmlformats.org/drawingml/2006/main">
            <a:off x="8280000" y="1224000"/>
            <a:ext cx="3420000" cy="108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3A5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500" b="0">
                <a:solidFill>
                  <a:srgbClr val="FFB347"/>
                </a:solidFill>
                <a:latin typeface="Calibri"/>
                <a:ea typeface="Calibri"/>
              </a:rPr>
              <a:t>MEDICAL-SAFE</a:t>
            </a:r>
          </a:p>
          <a:p xmlns:a="http://schemas.openxmlformats.org/drawingml/2006/main">
            <a:r>
              <a:rPr lang="en-US" sz="1500" b="0">
                <a:solidFill>
                  <a:srgbClr val="FFB347"/>
                </a:solidFill>
                <a:latin typeface="Calibri"/>
                <a:ea typeface="Calibri"/>
              </a:rPr>
              <a:t>Never prescribes medications or treatments. Always defers to qualified healthcare professionals for medical guidance.</a:t>
            </a:r>
          </a:p>
        </p:txBody>
      </p:sp>
      <p:sp>
        <p:nvSpPr>
          <p:cNvPr id="100104" name="BlockHead"/>
          <p:cNvSpPr txBox="1"/>
          <p:nvPr/>
        </p:nvSpPr>
        <p:spPr>
          <a:xfrm xmlns:a="http://schemas.openxmlformats.org/drawingml/2006/main">
            <a:off x="360000" y="2520000"/>
            <a:ext cx="11340000" cy="28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392B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700" b="1">
                <a:solidFill>
                  <a:srgbClr val="FFFFFF"/>
                </a:solidFill>
                <a:latin typeface="Calibri"/>
                <a:ea typeface="Calibri"/>
              </a:rPr>
              <a:t>BLOCKED TOPICS (15+ Categories — Automatically Rejected)</a:t>
            </a:r>
          </a:p>
        </p:txBody>
      </p:sp>
      <p:sp>
        <p:nvSpPr>
          <p:cNvPr id="100105" name="BlockList"/>
          <p:cNvSpPr txBox="1"/>
          <p:nvPr/>
        </p:nvSpPr>
        <p:spPr>
          <a:xfrm xmlns:a="http://schemas.openxmlformats.org/drawingml/2006/main">
            <a:off x="360000" y="2880000"/>
            <a:ext cx="11340000" cy="90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0A0A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600" b="0">
                <a:solidFill>
                  <a:srgbClr val="FF8080"/>
                </a:solidFill>
                <a:latin typeface="Courier New"/>
                <a:ea typeface="Courier New"/>
              </a:rPr>
              <a:t>drug  |  narcotic  |  steroid  |  anabolic  |  laxative abuse  |  starvation diet</a:t>
            </a:r>
          </a:p>
          <a:p xmlns:a="http://schemas.openxmlformats.org/drawingml/2006/main">
            <a:r>
              <a:rPr lang="en-US" sz="1600" b="0">
                <a:solidFill>
                  <a:srgbClr val="FF8080"/>
                </a:solidFill>
                <a:latin typeface="Courier New"/>
                <a:ea typeface="Courier New"/>
              </a:rPr>
              <a:t>eating disorder  |  purging  |  self-harm  |  suicide  |  medication overdose</a:t>
            </a:r>
          </a:p>
          <a:p xmlns:a="http://schemas.openxmlformats.org/drawingml/2006/main">
            <a:r>
              <a:rPr lang="en-US" sz="1600" b="0">
                <a:solidFill>
                  <a:srgbClr val="FF8080"/>
                </a:solidFill>
                <a:latin typeface="Courier New"/>
                <a:ea typeface="Courier New"/>
              </a:rPr>
              <a:t>extreme fasting  |  harmful supplement  |  unregulated supplement</a:t>
            </a:r>
          </a:p>
        </p:txBody>
      </p:sp>
      <p:sp>
        <p:nvSpPr>
          <p:cNvPr id="100106" name="SanitHead"/>
          <p:cNvSpPr txBox="1"/>
          <p:nvPr/>
        </p:nvSpPr>
        <p:spPr>
          <a:xfrm xmlns:a="http://schemas.openxmlformats.org/drawingml/2006/main">
            <a:off x="360000" y="3960000"/>
            <a:ext cx="5400000" cy="25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6B3C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500" b="1">
                <a:solidFill>
                  <a:srgbClr val="FFFFFF"/>
                </a:solidFill>
                <a:latin typeface="Calibri"/>
                <a:ea typeface="Calibri"/>
              </a:rPr>
              <a:t>INPUT SANITIZATION</a:t>
            </a:r>
          </a:p>
        </p:txBody>
      </p:sp>
      <p:sp>
        <p:nvSpPr>
          <p:cNvPr id="100107" name="SanitList"/>
          <p:cNvSpPr txBox="1"/>
          <p:nvPr/>
        </p:nvSpPr>
        <p:spPr>
          <a:xfrm xmlns:a="http://schemas.openxmlformats.org/drawingml/2006/main">
            <a:off x="360000" y="4248000"/>
            <a:ext cx="5400000" cy="14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3A5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 b="0">
                <a:solidFill>
                  <a:srgbClr val="FFFFFF"/>
                </a:solidFill>
                <a:latin typeface="Calibri"/>
                <a:ea typeface="Calibri"/>
              </a:rPr>
              <a:t>Strips prompt-injection markers: ###  SYSTEM:  IGNORE PREVIOUS  jailbreak  &lt;|</a:t>
            </a:r>
          </a:p>
          <a:p xmlns:a="http://schemas.openxmlformats.org/drawingml/2006/main">
            <a:r>
              <a:rPr lang="en-US" sz="1400" b="0">
                <a:solidFill>
                  <a:srgbClr val="FFFFFF"/>
                </a:solidFill>
                <a:latin typeface="Calibri"/>
                <a:ea typeface="Calibri"/>
              </a:rPr>
              <a:t>Caps all input at 2,000 characters maximum</a:t>
            </a:r>
          </a:p>
          <a:p xmlns:a="http://schemas.openxmlformats.org/drawingml/2006/main">
            <a:r>
              <a:rPr lang="en-US" sz="1400" b="0">
                <a:solidFill>
                  <a:srgbClr val="FFFFFF"/>
                </a:solidFill>
                <a:latin typeface="Calibri"/>
                <a:ea typeface="Calibri"/>
              </a:rPr>
              <a:t>Validates required fields before entering pipeline</a:t>
            </a:r>
          </a:p>
          <a:p xmlns:a="http://schemas.openxmlformats.org/drawingml/2006/main">
            <a:r>
              <a:rPr lang="en-US" sz="1400" b="0">
                <a:solidFill>
                  <a:srgbClr val="FFFFFF"/>
                </a:solidFill>
                <a:latin typeface="Calibri"/>
                <a:ea typeface="Calibri"/>
              </a:rPr>
              <a:t>Diet preference must be Vegetarian / Non-Vegetarian / Vegan</a:t>
            </a:r>
          </a:p>
          <a:p xmlns:a="http://schemas.openxmlformats.org/drawingml/2006/main">
            <a:r>
              <a:rPr lang="en-US" sz="1400" b="0">
                <a:solidFill>
                  <a:srgbClr val="FFFFFF"/>
                </a:solidFill>
                <a:latin typeface="Calibri"/>
                <a:ea typeface="Calibri"/>
              </a:rPr>
              <a:t>Age validated: 1-120 range only</a:t>
            </a:r>
          </a:p>
        </p:txBody>
      </p:sp>
      <p:sp>
        <p:nvSpPr>
          <p:cNvPr id="100108" name="DisclHead"/>
          <p:cNvSpPr txBox="1"/>
          <p:nvPr/>
        </p:nvSpPr>
        <p:spPr>
          <a:xfrm xmlns:a="http://schemas.openxmlformats.org/drawingml/2006/main">
            <a:off x="6300000" y="3960000"/>
            <a:ext cx="5400000" cy="25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7E22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500" b="1">
                <a:solidFill>
                  <a:srgbClr val="FFFFFF"/>
                </a:solidFill>
                <a:latin typeface="Calibri"/>
                <a:ea typeface="Calibri"/>
              </a:rPr>
              <a:t>MEDICAL DISCLAIMER</a:t>
            </a:r>
          </a:p>
        </p:txBody>
      </p:sp>
      <p:sp>
        <p:nvSpPr>
          <p:cNvPr id="100109" name="DisclText"/>
          <p:cNvSpPr txBox="1"/>
          <p:nvPr/>
        </p:nvSpPr>
        <p:spPr>
          <a:xfrm xmlns:a="http://schemas.openxmlformats.org/drawingml/2006/main">
            <a:off x="6300000" y="4248000"/>
            <a:ext cx="5400000" cy="14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3A5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 b="0">
                <a:solidFill>
                  <a:srgbClr val="FFD700"/>
                </a:solidFill>
                <a:latin typeface="Calibri"/>
                <a:ea typeface="Calibri"/>
              </a:rPr>
              <a:t>Every generated plan includes a mandatory disclaimer:</a:t>
            </a:r>
          </a:p>
          <a:p xmlns:a="http://schemas.openxmlformats.org/drawingml/2006/main">
            <a:r>
              <a:rPr lang="en-US" sz="1400" b="0">
                <a:solidFill>
                  <a:srgbClr val="FFD700"/>
                </a:solidFill>
                <a:latin typeface="Calibri"/>
                <a:ea typeface="Calibri"/>
              </a:rPr>
              <a:t/>
            </a:r>
          </a:p>
          <a:p xmlns:a="http://schemas.openxmlformats.org/drawingml/2006/main">
            <a:r>
              <a:rPr lang="en-US" sz="1400" b="0">
                <a:solidFill>
                  <a:srgbClr val="FFD700"/>
                </a:solidFill>
                <a:latin typeface="Calibri"/>
                <a:ea typeface="Calibri"/>
              </a:rPr>
              <a:t>This plan is for INFORMATIONAL purposes only. It does NOT constitute medical advice, diagnosis, or treatment. Always consult a qualified healthcare provider before making significant dietary changes.</a:t>
            </a:r>
          </a:p>
          <a:p xmlns:a="http://schemas.openxmlformats.org/drawingml/2006/main">
            <a:r>
              <a:rPr lang="en-US" sz="1400" b="0">
                <a:solidFill>
                  <a:srgbClr val="FFD700"/>
                </a:solidFill>
                <a:latin typeface="Calibri"/>
                <a:ea typeface="Calibri"/>
              </a:rPr>
              <a:t/>
            </a:r>
          </a:p>
          <a:p xmlns:a="http://schemas.openxmlformats.org/drawingml/2006/main">
            <a:r>
              <a:rPr lang="en-US" sz="1400" b="0">
                <a:solidFill>
                  <a:srgbClr val="FFD700"/>
                </a:solidFill>
                <a:latin typeface="Calibri"/>
                <a:ea typeface="Calibri"/>
              </a:rPr>
              <a:t>Appended automatically to 100% of outputs.</a:t>
            </a:r>
          </a:p>
        </p:txBody>
      </p:sp>
    </p:spTree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/>
      <p:sp>
        <p:nvSpPr>
          <p:cNvPr id="100110" name="HeaderBar"/>
          <p:cNvSpPr txBox="1"/>
          <p:nvPr/>
        </p:nvSpPr>
        <p:spPr>
          <a:xfrm xmlns:a="http://schemas.openxmlformats.org/drawingml/2006/main">
            <a:off x="0" y="0"/>
            <a:ext cx="12193200" cy="72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2A4A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 sz="800">
              <a:solidFill>
                <a:srgbClr val="0A2A4A"/>
              </a:solidFill>
            </a:endParaRPr>
          </a:p>
        </p:txBody>
      </p:sp>
      <p:sp>
        <p:nvSpPr>
          <p:cNvPr id="100111" name="SlideTitle"/>
          <p:cNvSpPr txBox="1"/>
          <p:nvPr/>
        </p:nvSpPr>
        <p:spPr>
          <a:xfrm xmlns:a="http://schemas.openxmlformats.org/drawingml/2006/main">
            <a:off x="540000" y="108000"/>
            <a:ext cx="10080000" cy="50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3000" b="1">
                <a:solidFill>
                  <a:srgbClr val="FFFFFF"/>
                </a:solidFill>
                <a:latin typeface="Calibri"/>
                <a:ea typeface="Calibri"/>
              </a:rPr>
              <a:t>UI Simulation — Web Application Layout</a:t>
            </a:r>
          </a:p>
        </p:txBody>
      </p:sp>
      <p:sp>
        <p:nvSpPr>
          <p:cNvPr id="100112" name="SlideNum"/>
          <p:cNvSpPr txBox="1"/>
          <p:nvPr/>
        </p:nvSpPr>
        <p:spPr>
          <a:xfrm xmlns:a="http://schemas.openxmlformats.org/drawingml/2006/main">
            <a:off x="10800000" y="144000"/>
            <a:ext cx="720000" cy="3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000" b="0">
                <a:solidFill>
                  <a:srgbClr val="7EC8E3"/>
                </a:solidFill>
                <a:latin typeface="Calibri"/>
                <a:ea typeface="Calibri"/>
              </a:rPr>
              <a:t>10</a:t>
            </a:r>
          </a:p>
        </p:txBody>
      </p:sp>
      <p:sp>
        <p:nvSpPr>
          <p:cNvPr id="100113" name="AppBar"/>
          <p:cNvSpPr txBox="1"/>
          <p:nvPr/>
        </p:nvSpPr>
        <p:spPr>
          <a:xfrm xmlns:a="http://schemas.openxmlformats.org/drawingml/2006/main">
            <a:off x="360000" y="828000"/>
            <a:ext cx="11520000" cy="3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1A2E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500" b="0">
                <a:solidFill>
                  <a:srgbClr val="7EC8E3"/>
                </a:solidFill>
                <a:latin typeface="Courier New"/>
                <a:ea typeface="Courier New"/>
              </a:rPr>
              <a:t>  Nutrition Agentic AI                          [IBM Granite Badge]  [watsonx.ai Connected]</a:t>
            </a:r>
          </a:p>
        </p:txBody>
      </p:sp>
      <p:sp>
        <p:nvSpPr>
          <p:cNvPr id="100114" name="LeftPanelHead"/>
          <p:cNvSpPr txBox="1"/>
          <p:nvPr/>
        </p:nvSpPr>
        <p:spPr>
          <a:xfrm xmlns:a="http://schemas.openxmlformats.org/drawingml/2006/main">
            <a:off x="360000" y="1224000"/>
            <a:ext cx="5220000" cy="21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4ADA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 b="1">
                <a:solidFill>
                  <a:srgbClr val="FFFFFF"/>
                </a:solidFill>
                <a:latin typeface="Calibri"/>
                <a:ea typeface="Calibri"/>
              </a:rPr>
              <a:t>LEFT PANEL — User Profile Form</a:t>
            </a:r>
          </a:p>
        </p:txBody>
      </p:sp>
      <p:sp>
        <p:nvSpPr>
          <p:cNvPr id="100115" name="LeftPanel"/>
          <p:cNvSpPr txBox="1"/>
          <p:nvPr/>
        </p:nvSpPr>
        <p:spPr>
          <a:xfrm xmlns:a="http://schemas.openxmlformats.org/drawingml/2006/main">
            <a:off x="360000" y="1476000"/>
            <a:ext cx="5220000" cy="32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13E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 b="0">
                <a:solidFill>
                  <a:srgbClr val="FFFFFF"/>
                </a:solidFill>
                <a:latin typeface="Courier New"/>
                <a:ea typeface="Courier New"/>
              </a:rPr>
              <a:t>Full Name:      [Priya Sharma            ]</a:t>
            </a:r>
          </a:p>
          <a:p xmlns:a="http://schemas.openxmlformats.org/drawingml/2006/main">
            <a:r>
              <a:rPr lang="en-US" sz="1300" b="0">
                <a:solidFill>
                  <a:srgbClr val="FFFFFF"/>
                </a:solidFill>
                <a:latin typeface="Courier New"/>
                <a:ea typeface="Courier New"/>
              </a:rPr>
              <a:t>Age:            [32                      ]</a:t>
            </a:r>
          </a:p>
          <a:p xmlns:a="http://schemas.openxmlformats.org/drawingml/2006/main">
            <a:r>
              <a:rPr lang="en-US" sz="1300" b="0">
                <a:solidFill>
                  <a:srgbClr val="FFFFFF"/>
                </a:solidFill>
                <a:latin typeface="Courier New"/>
                <a:ea typeface="Courier New"/>
              </a:rPr>
              <a:t>Diet:           [Vegetarian          v   ]</a:t>
            </a:r>
          </a:p>
          <a:p xmlns:a="http://schemas.openxmlformats.org/drawingml/2006/main">
            <a:r>
              <a:rPr lang="en-US" sz="1300" b="0">
                <a:solidFill>
                  <a:srgbClr val="FFFFFF"/>
                </a:solidFill>
                <a:latin typeface="Courier New"/>
                <a:ea typeface="Courier New"/>
              </a:rPr>
              <a:t>Medical:        [x] Diabetes</a:t>
            </a:r>
          </a:p>
          <a:p xmlns:a="http://schemas.openxmlformats.org/drawingml/2006/main">
            <a:r>
              <a:rPr lang="en-US" sz="1300" b="0">
                <a:solidFill>
                  <a:srgbClr val="FFFFFF"/>
                </a:solidFill>
                <a:latin typeface="Courier New"/>
                <a:ea typeface="Courier New"/>
              </a:rPr>
              <a:t>                [x] Blood Pressure</a:t>
            </a:r>
          </a:p>
          <a:p xmlns:a="http://schemas.openxmlformats.org/drawingml/2006/main">
            <a:r>
              <a:rPr lang="en-US" sz="1300" b="0">
                <a:solidFill>
                  <a:srgbClr val="FFFFFF"/>
                </a:solidFill>
                <a:latin typeface="Courier New"/>
                <a:ea typeface="Courier New"/>
              </a:rPr>
              <a:t>                [ ] Heart Disease</a:t>
            </a:r>
          </a:p>
          <a:p xmlns:a="http://schemas.openxmlformats.org/drawingml/2006/main">
            <a:r>
              <a:rPr lang="en-US" sz="1300" b="0">
                <a:solidFill>
                  <a:srgbClr val="FFFFFF"/>
                </a:solidFill>
                <a:latin typeface="Courier New"/>
                <a:ea typeface="Courier New"/>
              </a:rPr>
              <a:t>City:           [Mumbai                  ]</a:t>
            </a:r>
          </a:p>
          <a:p xmlns:a="http://schemas.openxmlformats.org/drawingml/2006/main">
            <a:r>
              <a:rPr lang="en-US" sz="1300" b="0">
                <a:solidFill>
                  <a:srgbClr val="FFFFFF"/>
                </a:solidFill>
                <a:latin typeface="Courier New"/>
                <a:ea typeface="Courier New"/>
              </a:rPr>
              <a:t>Country:        [India                   ]</a:t>
            </a:r>
          </a:p>
          <a:p xmlns:a="http://schemas.openxmlformats.org/drawingml/2006/main">
            <a:r>
              <a:rPr lang="en-US" sz="1300" b="0">
                <a:solidFill>
                  <a:srgbClr val="FFFFFF"/>
                </a:solidFill>
                <a:latin typeface="Courier New"/>
                <a:ea typeface="Courier New"/>
              </a:rPr>
              <a:t/>
            </a:r>
          </a:p>
          <a:p xmlns:a="http://schemas.openxmlformats.org/drawingml/2006/main">
            <a:r>
              <a:rPr lang="en-US" sz="1300" b="0">
                <a:solidFill>
                  <a:srgbClr val="FFFFFF"/>
                </a:solidFill>
                <a:latin typeface="Courier New"/>
                <a:ea typeface="Courier New"/>
              </a:rPr>
              <a:t>[    Generate My Nutrition Plan    ]</a:t>
            </a:r>
          </a:p>
        </p:txBody>
      </p:sp>
      <p:sp>
        <p:nvSpPr>
          <p:cNvPr id="100116" name="RightPanelHead"/>
          <p:cNvSpPr txBox="1"/>
          <p:nvPr/>
        </p:nvSpPr>
        <p:spPr>
          <a:xfrm xmlns:a="http://schemas.openxmlformats.org/drawingml/2006/main">
            <a:off x="5940000" y="1224000"/>
            <a:ext cx="5760000" cy="21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4ADA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 b="1">
                <a:solidFill>
                  <a:srgbClr val="FFFFFF"/>
                </a:solidFill>
                <a:latin typeface="Calibri"/>
                <a:ea typeface="Calibri"/>
              </a:rPr>
              <a:t>RIGHT PANEL — Tabs</a:t>
            </a:r>
          </a:p>
        </p:txBody>
      </p:sp>
      <p:sp>
        <p:nvSpPr>
          <p:cNvPr id="100117" name="Tabs"/>
          <p:cNvSpPr txBox="1"/>
          <p:nvPr/>
        </p:nvSpPr>
        <p:spPr>
          <a:xfrm xmlns:a="http://schemas.openxmlformats.org/drawingml/2006/main">
            <a:off x="5940000" y="1476000"/>
            <a:ext cx="5760000" cy="25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3A5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 b="0">
                <a:solidFill>
                  <a:srgbClr val="7EC8E3"/>
                </a:solidFill>
                <a:latin typeface="Courier New"/>
                <a:ea typeface="Courier New"/>
              </a:rPr>
              <a:t>[ My Plan ]  [ Chat ]  [ Saved Plans ]</a:t>
            </a:r>
          </a:p>
        </p:txBody>
      </p:sp>
      <p:sp>
        <p:nvSpPr>
          <p:cNvPr id="100118" name="PlanView"/>
          <p:cNvSpPr txBox="1"/>
          <p:nvPr/>
        </p:nvSpPr>
        <p:spPr>
          <a:xfrm xmlns:a="http://schemas.openxmlformats.org/drawingml/2006/main">
            <a:off x="5940000" y="1764000"/>
            <a:ext cx="5760000" cy="295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13E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200" b="0">
                <a:solidFill>
                  <a:srgbClr val="FFFFFF"/>
                </a:solidFill>
                <a:latin typeface="Courier New"/>
                <a:ea typeface="Courier New"/>
              </a:rPr>
              <a:t>1900 kcal  |  119g Protein  |  214g Carbs  |  63g Fat</a:t>
            </a:r>
          </a:p>
          <a:p xmlns:a="http://schemas.openxmlformats.org/drawingml/2006/main">
            <a:r>
              <a:rPr lang="en-US" sz="1200" b="0">
                <a:solidFill>
                  <a:srgbClr val="FFFFFF"/>
                </a:solidFill>
                <a:latin typeface="Courier New"/>
                <a:ea typeface="Courier New"/>
              </a:rPr>
              <a:t/>
            </a:r>
          </a:p>
          <a:p xmlns:a="http://schemas.openxmlformats.org/drawingml/2006/main">
            <a:r>
              <a:rPr lang="en-US" sz="1200" b="0">
                <a:solidFill>
                  <a:srgbClr val="FFFFFF"/>
                </a:solidFill>
                <a:latin typeface="Courier New"/>
                <a:ea typeface="Courier New"/>
              </a:rPr>
              <a:t># Personalized Nutrition Plan</a:t>
            </a:r>
          </a:p>
          <a:p xmlns:a="http://schemas.openxmlformats.org/drawingml/2006/main">
            <a:r>
              <a:rPr lang="en-US" sz="1200" b="0">
                <a:solidFill>
                  <a:srgbClr val="FFFFFF"/>
                </a:solidFill>
                <a:latin typeface="Courier New"/>
                <a:ea typeface="Courier New"/>
              </a:rPr>
              <a:t>## For: Priya Sharma</a:t>
            </a:r>
          </a:p>
          <a:p xmlns:a="http://schemas.openxmlformats.org/drawingml/2006/main">
            <a:r>
              <a:rPr lang="en-US" sz="1200" b="0">
                <a:solidFill>
                  <a:srgbClr val="FFFFFF"/>
                </a:solidFill>
                <a:latin typeface="Courier New"/>
                <a:ea typeface="Courier New"/>
              </a:rPr>
              <a:t/>
            </a:r>
          </a:p>
          <a:p xmlns:a="http://schemas.openxmlformats.org/drawingml/2006/main">
            <a:r>
              <a:rPr lang="en-US" sz="1200" b="0">
                <a:solidFill>
                  <a:srgbClr val="FFFFFF"/>
                </a:solidFill>
                <a:latin typeface="Courier New"/>
                <a:ea typeface="Courier New"/>
              </a:rPr>
              <a:t>### Diabetes Guidelines</a:t>
            </a:r>
          </a:p>
          <a:p xmlns:a="http://schemas.openxmlformats.org/drawingml/2006/main">
            <a:r>
              <a:rPr lang="en-US" sz="1200" b="0">
                <a:solidFill>
                  <a:srgbClr val="FFFFFF"/>
                </a:solidFill>
                <a:latin typeface="Courier New"/>
                <a:ea typeface="Courier New"/>
              </a:rPr>
              <a:t>- Low-GI foods prioritized</a:t>
            </a:r>
          </a:p>
          <a:p xmlns:a="http://schemas.openxmlformats.org/drawingml/2006/main">
            <a:r>
              <a:rPr lang="en-US" sz="1200" b="0">
                <a:solidFill>
                  <a:srgbClr val="FFFFFF"/>
                </a:solidFill>
                <a:latin typeface="Courier New"/>
                <a:ea typeface="Courier New"/>
              </a:rPr>
              <a:t>- Carbs capped at half cup per meal</a:t>
            </a:r>
          </a:p>
          <a:p xmlns:a="http://schemas.openxmlformats.org/drawingml/2006/main">
            <a:r>
              <a:rPr lang="en-US" sz="1200" b="0">
                <a:solidFill>
                  <a:srgbClr val="FFFFFF"/>
                </a:solidFill>
                <a:latin typeface="Courier New"/>
                <a:ea typeface="Courier New"/>
              </a:rPr>
              <a:t>- Space meals every 3-4 hours</a:t>
            </a:r>
          </a:p>
          <a:p xmlns:a="http://schemas.openxmlformats.org/drawingml/2006/main">
            <a:r>
              <a:rPr lang="en-US" sz="1200" b="0">
                <a:solidFill>
                  <a:srgbClr val="FFFFFF"/>
                </a:solidFill>
                <a:latin typeface="Courier New"/>
                <a:ea typeface="Courier New"/>
              </a:rPr>
              <a:t/>
            </a:r>
          </a:p>
          <a:p xmlns:a="http://schemas.openxmlformats.org/drawingml/2006/main">
            <a:r>
              <a:rPr lang="en-US" sz="1200" b="0">
                <a:solidFill>
                  <a:srgbClr val="FFFFFF"/>
                </a:solidFill>
                <a:latin typeface="Courier New"/>
                <a:ea typeface="Courier New"/>
              </a:rPr>
              <a:t>### 7-Day Meal Plan</a:t>
            </a:r>
          </a:p>
          <a:p xmlns:a="http://schemas.openxmlformats.org/drawingml/2006/main">
            <a:r>
              <a:rPr lang="en-US" sz="1200" b="0">
                <a:solidFill>
                  <a:srgbClr val="FFFFFF"/>
                </a:solidFill>
                <a:latin typeface="Courier New"/>
                <a:ea typeface="Courier New"/>
              </a:rPr>
              <a:t>Mon | Breakfast | Oats + lentils + spinach</a:t>
            </a:r>
          </a:p>
          <a:p xmlns:a="http://schemas.openxmlformats.org/drawingml/2006/main">
            <a:r>
              <a:rPr lang="en-US" sz="1200" b="0">
                <a:solidFill>
                  <a:srgbClr val="FFFFFF"/>
                </a:solidFill>
                <a:latin typeface="Courier New"/>
                <a:ea typeface="Courier New"/>
              </a:rPr>
              <a:t>Mon | Lunch     | Lentils + salad + water</a:t>
            </a:r>
          </a:p>
          <a:p xmlns:a="http://schemas.openxmlformats.org/drawingml/2006/main">
            <a:r>
              <a:rPr lang="en-US" sz="1200" b="0">
                <a:solidFill>
                  <a:srgbClr val="FFFFFF"/>
                </a:solidFill>
                <a:latin typeface="Courier New"/>
                <a:ea typeface="Courier New"/>
              </a:rPr>
              <a:t>Tue | Breakfast | Wheat bread + chickpeas</a:t>
            </a:r>
          </a:p>
          <a:p xmlns:a="http://schemas.openxmlformats.org/drawingml/2006/main">
            <a:r>
              <a:rPr lang="en-US" sz="1200" b="0">
                <a:solidFill>
                  <a:srgbClr val="FFFFFF"/>
                </a:solidFill>
                <a:latin typeface="Courier New"/>
                <a:ea typeface="Courier New"/>
              </a:rPr>
              <a:t/>
            </a:r>
          </a:p>
          <a:p xmlns:a="http://schemas.openxmlformats.org/drawingml/2006/main">
            <a:r>
              <a:rPr lang="en-US" sz="1200" b="0">
                <a:solidFill>
                  <a:srgbClr val="FFFFFF"/>
                </a:solidFill>
                <a:latin typeface="Courier New"/>
                <a:ea typeface="Courier New"/>
              </a:rPr>
              <a:t>### Medical Disclaimer</a:t>
            </a:r>
          </a:p>
          <a:p xmlns:a="http://schemas.openxmlformats.org/drawingml/2006/main">
            <a:r>
              <a:rPr lang="en-US" sz="1200" b="0">
                <a:solidFill>
                  <a:srgbClr val="FFFFFF"/>
                </a:solidFill>
                <a:latin typeface="Courier New"/>
                <a:ea typeface="Courier New"/>
              </a:rPr>
              <a:t>&gt; Informational only. Consult your doctor.</a:t>
            </a:r>
          </a:p>
          <a:p xmlns:a="http://schemas.openxmlformats.org/drawingml/2006/main">
            <a:r>
              <a:rPr lang="en-US" sz="1200" b="0">
                <a:solidFill>
                  <a:srgbClr val="FFFFFF"/>
                </a:solidFill>
                <a:latin typeface="Courier New"/>
                <a:ea typeface="Courier New"/>
              </a:rPr>
              <a:t/>
            </a:r>
          </a:p>
          <a:p xmlns:a="http://schemas.openxmlformats.org/drawingml/2006/main">
            <a:r>
              <a:rPr lang="en-US" sz="1200" b="0">
                <a:solidFill>
                  <a:srgbClr val="FFFFFF"/>
                </a:solidFill>
                <a:latin typeface="Courier New"/>
                <a:ea typeface="Courier New"/>
              </a:rPr>
              <a:t>[ Download as .md ]  [ Save Plan ]</a:t>
            </a:r>
          </a:p>
        </p:txBody>
      </p:sp>
      <p:sp>
        <p:nvSpPr>
          <p:cNvPr id="100119" name="ChatSim"/>
          <p:cNvSpPr txBox="1"/>
          <p:nvPr/>
        </p:nvSpPr>
        <p:spPr>
          <a:xfrm xmlns:a="http://schemas.openxmlformats.org/drawingml/2006/main">
            <a:off x="360000" y="4860000"/>
            <a:ext cx="5220000" cy="162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13E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 b="0">
                <a:solidFill>
                  <a:srgbClr val="A8E6CF"/>
                </a:solidFill>
                <a:latin typeface="Courier New"/>
                <a:ea typeface="Courier New"/>
              </a:rPr>
              <a:t>CHAT TAB — NutriGuide AI Assistant</a:t>
            </a:r>
          </a:p>
          <a:p xmlns:a="http://schemas.openxmlformats.org/drawingml/2006/main">
            <a:r>
              <a:rPr lang="en-US" sz="1300" b="0">
                <a:solidFill>
                  <a:srgbClr val="A8E6CF"/>
                </a:solidFill>
                <a:latin typeface="Courier New"/>
                <a:ea typeface="Courier New"/>
              </a:rPr>
              <a:t/>
            </a:r>
          </a:p>
          <a:p xmlns:a="http://schemas.openxmlformats.org/drawingml/2006/main">
            <a:r>
              <a:rPr lang="en-US" sz="1300" b="0">
                <a:solidFill>
                  <a:srgbClr val="A8E6CF"/>
                </a:solidFill>
                <a:latin typeface="Courier New"/>
                <a:ea typeface="Courier New"/>
              </a:rPr>
              <a:t>User: What foods help lower blood sugar?</a:t>
            </a:r>
          </a:p>
          <a:p xmlns:a="http://schemas.openxmlformats.org/drawingml/2006/main">
            <a:r>
              <a:rPr lang="en-US" sz="1300" b="0">
                <a:solidFill>
                  <a:srgbClr val="A8E6CF"/>
                </a:solidFill>
                <a:latin typeface="Courier New"/>
                <a:ea typeface="Courier New"/>
              </a:rPr>
              <a:t/>
            </a:r>
          </a:p>
          <a:p xmlns:a="http://schemas.openxmlformats.org/drawingml/2006/main">
            <a:r>
              <a:rPr lang="en-US" sz="1300" b="0">
                <a:solidFill>
                  <a:srgbClr val="A8E6CF"/>
                </a:solidFill>
                <a:latin typeface="Courier New"/>
                <a:ea typeface="Courier New"/>
              </a:rPr>
              <a:t>NutriGuide: Foods known to lower blood</a:t>
            </a:r>
          </a:p>
          <a:p xmlns:a="http://schemas.openxmlformats.org/drawingml/2006/main">
            <a:r>
              <a:rPr lang="en-US" sz="1300" b="0">
                <a:solidFill>
                  <a:srgbClr val="A8E6CF"/>
                </a:solidFill>
                <a:latin typeface="Courier New"/>
                <a:ea typeface="Courier New"/>
              </a:rPr>
              <a:t>sugar include bitter gourd, fenugreek,</a:t>
            </a:r>
          </a:p>
          <a:p xmlns:a="http://schemas.openxmlformats.org/drawingml/2006/main">
            <a:r>
              <a:rPr lang="en-US" sz="1300" b="0">
                <a:solidFill>
                  <a:srgbClr val="A8E6CF"/>
                </a:solidFill>
                <a:latin typeface="Courier New"/>
                <a:ea typeface="Courier New"/>
              </a:rPr>
              <a:t>cinnamon, leafy greens, and whole grains.</a:t>
            </a:r>
          </a:p>
          <a:p xmlns:a="http://schemas.openxmlformats.org/drawingml/2006/main">
            <a:r>
              <a:rPr lang="en-US" sz="1300" b="0">
                <a:solidFill>
                  <a:srgbClr val="A8E6CF"/>
                </a:solidFill>
                <a:latin typeface="Courier New"/>
                <a:ea typeface="Courier New"/>
              </a:rPr>
              <a:t>Always consult your doctor.</a:t>
            </a:r>
          </a:p>
          <a:p xmlns:a="http://schemas.openxmlformats.org/drawingml/2006/main">
            <a:r>
              <a:rPr lang="en-US" sz="1300" b="0">
                <a:solidFill>
                  <a:srgbClr val="A8E6CF"/>
                </a:solidFill>
                <a:latin typeface="Courier New"/>
                <a:ea typeface="Courier New"/>
              </a:rPr>
              <a:t/>
            </a:r>
          </a:p>
          <a:p xmlns:a="http://schemas.openxmlformats.org/drawingml/2006/main">
            <a:r>
              <a:rPr lang="en-US" sz="1300" b="0">
                <a:solidFill>
                  <a:srgbClr val="A8E6CF"/>
                </a:solidFill>
                <a:latin typeface="Courier New"/>
                <a:ea typeface="Courier New"/>
              </a:rPr>
              <a:t>[Type your question here...] [Send]</a:t>
            </a:r>
          </a:p>
        </p:txBody>
      </p:sp>
      <p:sp>
        <p:nvSpPr>
          <p:cNvPr id="100120" name="SavedSim"/>
          <p:cNvSpPr txBox="1"/>
          <p:nvPr/>
        </p:nvSpPr>
        <p:spPr>
          <a:xfrm xmlns:a="http://schemas.openxmlformats.org/drawingml/2006/main">
            <a:off x="5940000" y="4860000"/>
            <a:ext cx="5760000" cy="162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13E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 b="0">
                <a:solidFill>
                  <a:srgbClr val="FFD700"/>
                </a:solidFill>
                <a:latin typeface="Courier New"/>
                <a:ea typeface="Courier New"/>
              </a:rPr>
              <a:t>SAVED PLANS TAB</a:t>
            </a:r>
          </a:p>
          <a:p xmlns:a="http://schemas.openxmlformats.org/drawingml/2006/main">
            <a:r>
              <a:rPr lang="en-US" sz="1300" b="0">
                <a:solidFill>
                  <a:srgbClr val="FFD700"/>
                </a:solidFill>
                <a:latin typeface="Courier New"/>
                <a:ea typeface="Courier New"/>
              </a:rPr>
              <a:t/>
            </a:r>
          </a:p>
          <a:p xmlns:a="http://schemas.openxmlformats.org/drawingml/2006/main">
            <a:r>
              <a:rPr lang="en-US" sz="1300" b="0">
                <a:solidFill>
                  <a:srgbClr val="FFD700"/>
                </a:solidFill>
                <a:latin typeface="Courier New"/>
                <a:ea typeface="Courier New"/>
              </a:rPr>
              <a:t>&gt; nutrition_plan_priya_sharma_20250101.md</a:t>
            </a:r>
          </a:p>
          <a:p xmlns:a="http://schemas.openxmlformats.org/drawingml/2006/main">
            <a:r>
              <a:rPr lang="en-US" sz="1300" b="0">
                <a:solidFill>
                  <a:srgbClr val="FFD700"/>
                </a:solidFill>
                <a:latin typeface="Courier New"/>
                <a:ea typeface="Courier New"/>
              </a:rPr>
              <a:t>&gt; nutrition_plan_demo_user_sample.md</a:t>
            </a:r>
          </a:p>
          <a:p xmlns:a="http://schemas.openxmlformats.org/drawingml/2006/main">
            <a:r>
              <a:rPr lang="en-US" sz="1300" b="0">
                <a:solidFill>
                  <a:srgbClr val="FFD700"/>
                </a:solidFill>
                <a:latin typeface="Courier New"/>
                <a:ea typeface="Courier New"/>
              </a:rPr>
              <a:t/>
            </a:r>
          </a:p>
          <a:p xmlns:a="http://schemas.openxmlformats.org/drawingml/2006/main">
            <a:r>
              <a:rPr lang="en-US" sz="1300" b="0">
                <a:solidFill>
                  <a:srgbClr val="FFD700"/>
                </a:solidFill>
                <a:latin typeface="Courier New"/>
                <a:ea typeface="Courier New"/>
              </a:rPr>
              <a:t>[ View ]  [ Download ]</a:t>
            </a:r>
          </a:p>
          <a:p xmlns:a="http://schemas.openxmlformats.org/drawingml/2006/main">
            <a:r>
              <a:rPr lang="en-US" sz="1300" b="0">
                <a:solidFill>
                  <a:srgbClr val="FFD700"/>
                </a:solidFill>
                <a:latin typeface="Courier New"/>
                <a:ea typeface="Courier New"/>
              </a:rPr>
              <a:t/>
            </a:r>
          </a:p>
          <a:p xmlns:a="http://schemas.openxmlformats.org/drawingml/2006/main">
            <a:r>
              <a:rPr lang="en-US" sz="1300" b="0">
                <a:solidFill>
                  <a:srgbClr val="FFD700"/>
                </a:solidFill>
                <a:latin typeface="Courier New"/>
                <a:ea typeface="Courier New"/>
              </a:rPr>
              <a:t>All plans stored in saved_plans/ folder</a:t>
            </a:r>
          </a:p>
        </p:txBody>
      </p:sp>
      <p:sp>
        <p:nvSpPr>
          <p:cNvPr id="100121" name="BottomBar"/>
          <p:cNvSpPr txBox="1"/>
          <p:nvPr/>
        </p:nvSpPr>
        <p:spPr>
          <a:xfrm xmlns:a="http://schemas.openxmlformats.org/drawingml/2006/main">
            <a:off x="0" y="6660000"/>
            <a:ext cx="12193200" cy="18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6B3C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 sz="800">
              <a:solidFill>
                <a:srgbClr val="1A6B3C"/>
              </a:solidFill>
            </a:endParaRPr>
          </a:p>
        </p:txBody>
      </p:sp>
    </p:spTree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A2A4A"/>
        </a:solidFill>
      </p:bgPr>
    </p:bg>
    <p:spTree>
      <p:nvGrpSpPr>
        <p:cNvPr id="1" name=""/>
        <p:cNvGrpSpPr/>
        <p:nvPr/>
      </p:nvGrpSpPr>
      <p:grpSpPr/>
      <p:sp>
        <p:nvSpPr>
          <p:cNvPr id="100122" name="HeaderBar"/>
          <p:cNvSpPr txBox="1"/>
          <p:nvPr/>
        </p:nvSpPr>
        <p:spPr>
          <a:xfrm xmlns:a="http://schemas.openxmlformats.org/drawingml/2006/main">
            <a:off x="0" y="0"/>
            <a:ext cx="12193200" cy="72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4ADA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 sz="800">
              <a:solidFill>
                <a:srgbClr val="054ADA"/>
              </a:solidFill>
            </a:endParaRPr>
          </a:p>
        </p:txBody>
      </p:sp>
      <p:sp>
        <p:nvSpPr>
          <p:cNvPr id="100123" name="SlideTitle"/>
          <p:cNvSpPr txBox="1"/>
          <p:nvPr/>
        </p:nvSpPr>
        <p:spPr>
          <a:xfrm xmlns:a="http://schemas.openxmlformats.org/drawingml/2006/main">
            <a:off x="540000" y="108000"/>
            <a:ext cx="10080000" cy="50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3200" b="1">
                <a:solidFill>
                  <a:srgbClr val="FFFFFF"/>
                </a:solidFill>
                <a:latin typeface="Calibri"/>
                <a:ea typeface="Calibri"/>
              </a:rPr>
              <a:t>REST API Reference</a:t>
            </a:r>
          </a:p>
        </p:txBody>
      </p:sp>
      <p:sp>
        <p:nvSpPr>
          <p:cNvPr id="100124" name="SlideNum"/>
          <p:cNvSpPr txBox="1"/>
          <p:nvPr/>
        </p:nvSpPr>
        <p:spPr>
          <a:xfrm xmlns:a="http://schemas.openxmlformats.org/drawingml/2006/main">
            <a:off x="10800000" y="144000"/>
            <a:ext cx="720000" cy="3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000" b="0">
                <a:solidFill>
                  <a:srgbClr val="FFFFFF"/>
                </a:solidFill>
                <a:latin typeface="Calibri"/>
                <a:ea typeface="Calibri"/>
              </a:rPr>
              <a:t>11</a:t>
            </a:r>
          </a:p>
        </p:txBody>
      </p:sp>
      <p:sp>
        <p:nvSpPr>
          <p:cNvPr id="100125" name="EP1Head"/>
          <p:cNvSpPr txBox="1"/>
          <p:nvPr/>
        </p:nvSpPr>
        <p:spPr>
          <a:xfrm xmlns:a="http://schemas.openxmlformats.org/drawingml/2006/main">
            <a:off x="360000" y="864000"/>
            <a:ext cx="5580000" cy="28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6B3C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700" b="1">
                <a:solidFill>
                  <a:srgbClr val="FFFFFF"/>
                </a:solidFill>
                <a:latin typeface="Courier New"/>
                <a:ea typeface="Courier New"/>
              </a:rPr>
              <a:t>POST /api/generate-plan</a:t>
            </a:r>
          </a:p>
        </p:txBody>
      </p:sp>
      <p:sp>
        <p:nvSpPr>
          <p:cNvPr id="100126" name="EP1Body"/>
          <p:cNvSpPr txBox="1"/>
          <p:nvPr/>
        </p:nvSpPr>
        <p:spPr>
          <a:xfrm xmlns:a="http://schemas.openxmlformats.org/drawingml/2006/main">
            <a:off x="360000" y="1188000"/>
            <a:ext cx="5580000" cy="216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3A5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 b="0">
                <a:solidFill>
                  <a:srgbClr val="FFFFFF"/>
                </a:solidFill>
                <a:latin typeface="Courier New"/>
                <a:ea typeface="Courier New"/>
              </a:rPr>
              <a:t>Generate a personalized nutrition plan.</a:t>
            </a:r>
          </a:p>
          <a:p xmlns:a="http://schemas.openxmlformats.org/drawingml/2006/main">
            <a:r>
              <a:rPr lang="en-US" sz="1300" b="0">
                <a:solidFill>
                  <a:srgbClr val="FFFFFF"/>
                </a:solidFill>
                <a:latin typeface="Courier New"/>
                <a:ea typeface="Courier New"/>
              </a:rPr>
              <a:t/>
            </a:r>
          </a:p>
          <a:p xmlns:a="http://schemas.openxmlformats.org/drawingml/2006/main">
            <a:r>
              <a:rPr lang="en-US" sz="1300" b="0">
                <a:solidFill>
                  <a:srgbClr val="FFFFFF"/>
                </a:solidFill>
                <a:latin typeface="Courier New"/>
                <a:ea typeface="Courier New"/>
              </a:rPr>
              <a:t>REQUEST:</a:t>
            </a:r>
          </a:p>
          <a:p xmlns:a="http://schemas.openxmlformats.org/drawingml/2006/main">
            <a:r>
              <a:rPr lang="en-US" sz="1300" b="0">
                <a:solidFill>
                  <a:srgbClr val="FFFFFF"/>
                </a:solidFill>
                <a:latin typeface="Courier New"/>
                <a:ea typeface="Courier New"/>
              </a:rPr>
              <a:t>{ name, age, diet_preference,</a:t>
            </a:r>
          </a:p>
          <a:p xmlns:a="http://schemas.openxmlformats.org/drawingml/2006/main">
            <a:r>
              <a:rPr lang="en-US" sz="1300" b="0">
                <a:solidFill>
                  <a:srgbClr val="FFFFFF"/>
                </a:solidFill>
                <a:latin typeface="Courier New"/>
                <a:ea typeface="Courier New"/>
              </a:rPr>
              <a:t>  medical_history, city, country }</a:t>
            </a:r>
          </a:p>
          <a:p xmlns:a="http://schemas.openxmlformats.org/drawingml/2006/main">
            <a:r>
              <a:rPr lang="en-US" sz="1300" b="0">
                <a:solidFill>
                  <a:srgbClr val="FFFFFF"/>
                </a:solidFill>
                <a:latin typeface="Courier New"/>
                <a:ea typeface="Courier New"/>
              </a:rPr>
              <a:t/>
            </a:r>
          </a:p>
          <a:p xmlns:a="http://schemas.openxmlformats.org/drawingml/2006/main">
            <a:r>
              <a:rPr lang="en-US" sz="1300" b="0">
                <a:solidFill>
                  <a:srgbClr val="FFFFFF"/>
                </a:solidFill>
                <a:latin typeface="Courier New"/>
                <a:ea typeface="Courier New"/>
              </a:rPr>
              <a:t>RESPONSE:</a:t>
            </a:r>
          </a:p>
          <a:p xmlns:a="http://schemas.openxmlformats.org/drawingml/2006/main">
            <a:r>
              <a:rPr lang="en-US" sz="1300" b="0">
                <a:solidFill>
                  <a:srgbClr val="FFFFFF"/>
                </a:solidFill>
                <a:latin typeface="Courier New"/>
                <a:ea typeface="Courier New"/>
              </a:rPr>
              <a:t>{ status, plan_markdown,</a:t>
            </a:r>
          </a:p>
          <a:p xmlns:a="http://schemas.openxmlformats.org/drawingml/2006/main">
            <a:r>
              <a:rPr lang="en-US" sz="1300" b="0">
                <a:solidFill>
                  <a:srgbClr val="FFFFFF"/>
                </a:solidFill>
                <a:latin typeface="Courier New"/>
                <a:ea typeface="Courier New"/>
              </a:rPr>
              <a:t>  caloric_needs, conditions_detected,</a:t>
            </a:r>
          </a:p>
          <a:p xmlns:a="http://schemas.openxmlformats.org/drawingml/2006/main">
            <a:r>
              <a:rPr lang="en-US" sz="1300" b="0">
                <a:solidFill>
                  <a:srgbClr val="FFFFFF"/>
                </a:solidFill>
                <a:latin typeface="Courier New"/>
                <a:ea typeface="Courier New"/>
              </a:rPr>
              <a:t>  saved_file }</a:t>
            </a:r>
          </a:p>
        </p:txBody>
      </p:sp>
      <p:sp>
        <p:nvSpPr>
          <p:cNvPr id="100127" name="EP2Head"/>
          <p:cNvSpPr txBox="1"/>
          <p:nvPr/>
        </p:nvSpPr>
        <p:spPr>
          <a:xfrm xmlns:a="http://schemas.openxmlformats.org/drawingml/2006/main">
            <a:off x="6300000" y="864000"/>
            <a:ext cx="5400000" cy="28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4ADA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700" b="1">
                <a:solidFill>
                  <a:srgbClr val="FFFFFF"/>
                </a:solidFill>
                <a:latin typeface="Courier New"/>
                <a:ea typeface="Courier New"/>
              </a:rPr>
              <a:t>POST /api/query</a:t>
            </a:r>
          </a:p>
        </p:txBody>
      </p:sp>
      <p:sp>
        <p:nvSpPr>
          <p:cNvPr id="100128" name="EP2Body"/>
          <p:cNvSpPr txBox="1"/>
          <p:nvPr/>
        </p:nvSpPr>
        <p:spPr>
          <a:xfrm xmlns:a="http://schemas.openxmlformats.org/drawingml/2006/main">
            <a:off x="6300000" y="1188000"/>
            <a:ext cx="5400000" cy="216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3A5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 b="0">
                <a:solidFill>
                  <a:srgbClr val="FFFFFF"/>
                </a:solidFill>
                <a:latin typeface="Courier New"/>
                <a:ea typeface="Courier New"/>
              </a:rPr>
              <a:t>Ask NutriGuide AI a nutrition question.</a:t>
            </a:r>
          </a:p>
          <a:p xmlns:a="http://schemas.openxmlformats.org/drawingml/2006/main">
            <a:r>
              <a:rPr lang="en-US" sz="1300" b="0">
                <a:solidFill>
                  <a:srgbClr val="FFFFFF"/>
                </a:solidFill>
                <a:latin typeface="Courier New"/>
                <a:ea typeface="Courier New"/>
              </a:rPr>
              <a:t/>
            </a:r>
          </a:p>
          <a:p xmlns:a="http://schemas.openxmlformats.org/drawingml/2006/main">
            <a:r>
              <a:rPr lang="en-US" sz="1300" b="0">
                <a:solidFill>
                  <a:srgbClr val="FFFFFF"/>
                </a:solidFill>
                <a:latin typeface="Courier New"/>
                <a:ea typeface="Courier New"/>
              </a:rPr>
              <a:t>REQUEST:</a:t>
            </a:r>
          </a:p>
          <a:p xmlns:a="http://schemas.openxmlformats.org/drawingml/2006/main">
            <a:r>
              <a:rPr lang="en-US" sz="1300" b="0">
                <a:solidFill>
                  <a:srgbClr val="FFFFFF"/>
                </a:solidFill>
                <a:latin typeface="Courier New"/>
                <a:ea typeface="Courier New"/>
              </a:rPr>
              <a:t>{ query: string,</a:t>
            </a:r>
          </a:p>
          <a:p xmlns:a="http://schemas.openxmlformats.org/drawingml/2006/main">
            <a:r>
              <a:rPr lang="en-US" sz="1300" b="0">
                <a:solidFill>
                  <a:srgbClr val="FFFFFF"/>
                </a:solidFill>
                <a:latin typeface="Courier New"/>
                <a:ea typeface="Courier New"/>
              </a:rPr>
              <a:t>  profile: { name, age,</a:t>
            </a:r>
          </a:p>
          <a:p xmlns:a="http://schemas.openxmlformats.org/drawingml/2006/main">
            <a:r>
              <a:rPr lang="en-US" sz="1300" b="0">
                <a:solidFill>
                  <a:srgbClr val="FFFFFF"/>
                </a:solidFill>
                <a:latin typeface="Courier New"/>
                <a:ea typeface="Courier New"/>
              </a:rPr>
              <a:t>    diet_preference, medical_history } }</a:t>
            </a:r>
          </a:p>
          <a:p xmlns:a="http://schemas.openxmlformats.org/drawingml/2006/main">
            <a:r>
              <a:rPr lang="en-US" sz="1300" b="0">
                <a:solidFill>
                  <a:srgbClr val="FFFFFF"/>
                </a:solidFill>
                <a:latin typeface="Courier New"/>
                <a:ea typeface="Courier New"/>
              </a:rPr>
              <a:t/>
            </a:r>
          </a:p>
          <a:p xmlns:a="http://schemas.openxmlformats.org/drawingml/2006/main">
            <a:r>
              <a:rPr lang="en-US" sz="1300" b="0">
                <a:solidFill>
                  <a:srgbClr val="FFFFFF"/>
                </a:solidFill>
                <a:latin typeface="Courier New"/>
                <a:ea typeface="Courier New"/>
              </a:rPr>
              <a:t>RESPONSE:</a:t>
            </a:r>
          </a:p>
          <a:p xmlns:a="http://schemas.openxmlformats.org/drawingml/2006/main">
            <a:r>
              <a:rPr lang="en-US" sz="1300" b="0">
                <a:solidFill>
                  <a:srgbClr val="FFFFFF"/>
                </a:solidFill>
                <a:latin typeface="Courier New"/>
                <a:ea typeface="Courier New"/>
              </a:rPr>
              <a:t>{ status, answer, query }</a:t>
            </a:r>
          </a:p>
        </p:txBody>
      </p:sp>
      <p:sp>
        <p:nvSpPr>
          <p:cNvPr id="100129" name="EP3Head"/>
          <p:cNvSpPr txBox="1"/>
          <p:nvPr/>
        </p:nvSpPr>
        <p:spPr>
          <a:xfrm xmlns:a="http://schemas.openxmlformats.org/drawingml/2006/main">
            <a:off x="360000" y="3528000"/>
            <a:ext cx="2700000" cy="28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D3C9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700" b="1">
                <a:solidFill>
                  <a:srgbClr val="FFFFFF"/>
                </a:solidFill>
                <a:latin typeface="Courier New"/>
                <a:ea typeface="Courier New"/>
              </a:rPr>
              <a:t>GET /api/plans</a:t>
            </a:r>
          </a:p>
        </p:txBody>
      </p:sp>
      <p:sp>
        <p:nvSpPr>
          <p:cNvPr id="100130" name="EP3Body"/>
          <p:cNvSpPr txBox="1"/>
          <p:nvPr/>
        </p:nvSpPr>
        <p:spPr>
          <a:xfrm xmlns:a="http://schemas.openxmlformats.org/drawingml/2006/main">
            <a:off x="360000" y="3852000"/>
            <a:ext cx="2700000" cy="90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3A5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 b="0">
                <a:solidFill>
                  <a:srgbClr val="FFFFFF"/>
                </a:solidFill>
                <a:latin typeface="Courier New"/>
                <a:ea typeface="Courier New"/>
              </a:rPr>
              <a:t>List all saved .md nutrition plans.</a:t>
            </a:r>
          </a:p>
          <a:p xmlns:a="http://schemas.openxmlformats.org/drawingml/2006/main">
            <a:r>
              <a:rPr lang="en-US" sz="1300" b="0">
                <a:solidFill>
                  <a:srgbClr val="FFFFFF"/>
                </a:solidFill>
                <a:latin typeface="Courier New"/>
                <a:ea typeface="Courier New"/>
              </a:rPr>
              <a:t>Returns: array of filenames sorted newest first.</a:t>
            </a:r>
          </a:p>
        </p:txBody>
      </p:sp>
      <p:sp>
        <p:nvSpPr>
          <p:cNvPr id="100131" name="EP4Head"/>
          <p:cNvSpPr txBox="1"/>
          <p:nvPr/>
        </p:nvSpPr>
        <p:spPr>
          <a:xfrm xmlns:a="http://schemas.openxmlformats.org/drawingml/2006/main">
            <a:off x="3420000" y="3528000"/>
            <a:ext cx="3960000" cy="28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7E22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700" b="1">
                <a:solidFill>
                  <a:srgbClr val="FFFFFF"/>
                </a:solidFill>
                <a:latin typeface="Courier New"/>
                <a:ea typeface="Courier New"/>
              </a:rPr>
              <a:t>GET /api/plans/&lt;filename&gt;</a:t>
            </a:r>
          </a:p>
        </p:txBody>
      </p:sp>
      <p:sp>
        <p:nvSpPr>
          <p:cNvPr id="100132" name="EP4Body"/>
          <p:cNvSpPr txBox="1"/>
          <p:nvPr/>
        </p:nvSpPr>
        <p:spPr>
          <a:xfrm xmlns:a="http://schemas.openxmlformats.org/drawingml/2006/main">
            <a:off x="3420000" y="3852000"/>
            <a:ext cx="3960000" cy="90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3A5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 b="0">
                <a:solidFill>
                  <a:srgbClr val="FFFFFF"/>
                </a:solidFill>
                <a:latin typeface="Courier New"/>
                <a:ea typeface="Courier New"/>
              </a:rPr>
              <a:t>Retrieve content of a saved plan.</a:t>
            </a:r>
          </a:p>
          <a:p xmlns:a="http://schemas.openxmlformats.org/drawingml/2006/main">
            <a:r>
              <a:rPr lang="en-US" sz="1300" b="0">
                <a:solidFill>
                  <a:srgbClr val="FFFFFF"/>
                </a:solidFill>
                <a:latin typeface="Courier New"/>
                <a:ea typeface="Courier New"/>
              </a:rPr>
              <a:t>Only .md files allowed. Path traversal blocked.</a:t>
            </a:r>
          </a:p>
          <a:p xmlns:a="http://schemas.openxmlformats.org/drawingml/2006/main">
            <a:r>
              <a:rPr lang="en-US" sz="1300" b="0">
                <a:solidFill>
                  <a:srgbClr val="FFFFFF"/>
                </a:solidFill>
                <a:latin typeface="Courier New"/>
                <a:ea typeface="Courier New"/>
              </a:rPr>
              <a:t>Returns: { status, content, filename }</a:t>
            </a:r>
          </a:p>
        </p:txBody>
      </p:sp>
      <p:sp>
        <p:nvSpPr>
          <p:cNvPr id="100133" name="EP5Head"/>
          <p:cNvSpPr txBox="1"/>
          <p:nvPr/>
        </p:nvSpPr>
        <p:spPr>
          <a:xfrm xmlns:a="http://schemas.openxmlformats.org/drawingml/2006/main">
            <a:off x="7740000" y="3528000"/>
            <a:ext cx="3960000" cy="28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392B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700" b="1">
                <a:solidFill>
                  <a:srgbClr val="FFFFFF"/>
                </a:solidFill>
                <a:latin typeface="Courier New"/>
                <a:ea typeface="Courier New"/>
              </a:rPr>
              <a:t>GET /api/health</a:t>
            </a:r>
          </a:p>
        </p:txBody>
      </p:sp>
      <p:sp>
        <p:nvSpPr>
          <p:cNvPr id="100134" name="EP5Body"/>
          <p:cNvSpPr txBox="1"/>
          <p:nvPr/>
        </p:nvSpPr>
        <p:spPr>
          <a:xfrm xmlns:a="http://schemas.openxmlformats.org/drawingml/2006/main">
            <a:off x="7740000" y="3852000"/>
            <a:ext cx="3960000" cy="90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3A5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 b="0">
                <a:solidFill>
                  <a:srgbClr val="FFFFFF"/>
                </a:solidFill>
                <a:latin typeface="Courier New"/>
                <a:ea typeface="Courier New"/>
              </a:rPr>
              <a:t>Health check endpoint.</a:t>
            </a:r>
          </a:p>
          <a:p xmlns:a="http://schemas.openxmlformats.org/drawingml/2006/main">
            <a:r>
              <a:rPr lang="en-US" sz="1300" b="0">
                <a:solidFill>
                  <a:srgbClr val="FFFFFF"/>
                </a:solidFill>
                <a:latin typeface="Courier New"/>
                <a:ea typeface="Courier New"/>
              </a:rPr>
              <a:t>Returns: { status: healthy, service, model, timestamp }</a:t>
            </a:r>
          </a:p>
        </p:txBody>
      </p:sp>
      <p:sp>
        <p:nvSpPr>
          <p:cNvPr id="100135" name="TestHead"/>
          <p:cNvSpPr txBox="1"/>
          <p:nvPr/>
        </p:nvSpPr>
        <p:spPr>
          <a:xfrm xmlns:a="http://schemas.openxmlformats.org/drawingml/2006/main">
            <a:off x="360000" y="4932000"/>
            <a:ext cx="11340000" cy="25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6B3C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500" b="1">
                <a:solidFill>
                  <a:srgbClr val="FFFFFF"/>
                </a:solidFill>
                <a:latin typeface="Calibri"/>
                <a:ea typeface="Calibri"/>
              </a:rPr>
              <a:t>TEST COMMANDS</a:t>
            </a:r>
          </a:p>
        </p:txBody>
      </p:sp>
      <p:sp>
        <p:nvSpPr>
          <p:cNvPr id="100136" name="TestBody"/>
          <p:cNvSpPr txBox="1"/>
          <p:nvPr/>
        </p:nvSpPr>
        <p:spPr>
          <a:xfrm xmlns:a="http://schemas.openxmlformats.org/drawingml/2006/main">
            <a:off x="360000" y="5220000"/>
            <a:ext cx="11340000" cy="108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0D0D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200" b="0">
                <a:solidFill>
                  <a:srgbClr val="00FF41"/>
                </a:solidFill>
                <a:latin typeface="Courier New"/>
                <a:ea typeface="Courier New"/>
              </a:rPr>
              <a:t>PowerShell:  Invoke-RestMethod -Uri http://localhost:5000/api/generate-plan -Method POST -ContentType 'application/json' -Body '{"name":"Test","age":"30","diet_preference":"Vegetarian","medical_history":"None","city":"Delhi","country":"India"}'</a:t>
            </a:r>
          </a:p>
          <a:p xmlns:a="http://schemas.openxmlformats.org/drawingml/2006/main">
            <a:r>
              <a:rPr lang="en-US" sz="1200" b="0">
                <a:solidFill>
                  <a:srgbClr val="00FF41"/>
                </a:solidFill>
                <a:latin typeface="Courier New"/>
                <a:ea typeface="Courier New"/>
              </a:rPr>
              <a:t>cURL:        curl -X POST http://localhost:5000/api/generate-plan -H 'Content-Type: application/json' -d '{"name":"Test","age":"30",...}'</a:t>
            </a:r>
          </a:p>
        </p:txBody>
      </p:sp>
    </p:spTree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100137" name="HeaderBar"/>
          <p:cNvSpPr txBox="1"/>
          <p:nvPr/>
        </p:nvSpPr>
        <p:spPr>
          <a:xfrm xmlns:a="http://schemas.openxmlformats.org/drawingml/2006/main">
            <a:off x="0" y="0"/>
            <a:ext cx="12193200" cy="72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2A4A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 sz="800">
              <a:solidFill>
                <a:srgbClr val="0A2A4A"/>
              </a:solidFill>
            </a:endParaRPr>
          </a:p>
        </p:txBody>
      </p:sp>
      <p:sp>
        <p:nvSpPr>
          <p:cNvPr id="100138" name="SlideTitle"/>
          <p:cNvSpPr txBox="1"/>
          <p:nvPr/>
        </p:nvSpPr>
        <p:spPr>
          <a:xfrm xmlns:a="http://schemas.openxmlformats.org/drawingml/2006/main">
            <a:off x="540000" y="108000"/>
            <a:ext cx="10080000" cy="50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3200" b="1">
                <a:solidFill>
                  <a:srgbClr val="FFFFFF"/>
                </a:solidFill>
                <a:latin typeface="Calibri"/>
                <a:ea typeface="Calibri"/>
              </a:rPr>
              <a:t>Setup &amp; Deployment Guide</a:t>
            </a:r>
          </a:p>
        </p:txBody>
      </p:sp>
      <p:sp>
        <p:nvSpPr>
          <p:cNvPr id="100139" name="SlideNum"/>
          <p:cNvSpPr txBox="1"/>
          <p:nvPr/>
        </p:nvSpPr>
        <p:spPr>
          <a:xfrm xmlns:a="http://schemas.openxmlformats.org/drawingml/2006/main">
            <a:off x="10800000" y="144000"/>
            <a:ext cx="720000" cy="3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000" b="0">
                <a:solidFill>
                  <a:srgbClr val="7EC8E3"/>
                </a:solidFill>
                <a:latin typeface="Calibri"/>
                <a:ea typeface="Calibri"/>
              </a:rPr>
              <a:t>12</a:t>
            </a:r>
          </a:p>
        </p:txBody>
      </p:sp>
      <p:sp>
        <p:nvSpPr>
          <p:cNvPr id="100140" name="PreReqHead"/>
          <p:cNvSpPr txBox="1"/>
          <p:nvPr/>
        </p:nvSpPr>
        <p:spPr>
          <a:xfrm xmlns:a="http://schemas.openxmlformats.org/drawingml/2006/main">
            <a:off x="360000" y="864000"/>
            <a:ext cx="11340000" cy="25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2A4A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700" b="1">
                <a:solidFill>
                  <a:srgbClr val="FFFFFF"/>
                </a:solidFill>
                <a:latin typeface="Calibri"/>
                <a:ea typeface="Calibri"/>
              </a:rPr>
              <a:t>PREREQUISITES</a:t>
            </a:r>
          </a:p>
        </p:txBody>
      </p:sp>
      <p:sp>
        <p:nvSpPr>
          <p:cNvPr id="100141" name="PreReq"/>
          <p:cNvSpPr txBox="1"/>
          <p:nvPr/>
        </p:nvSpPr>
        <p:spPr>
          <a:xfrm xmlns:a="http://schemas.openxmlformats.org/drawingml/2006/main">
            <a:off x="360000" y="1152000"/>
            <a:ext cx="11340000" cy="43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4FD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500" b="0">
                <a:solidFill>
                  <a:srgbClr val="0A2A4A"/>
                </a:solidFill>
                <a:latin typeface="Calibri"/>
                <a:ea typeface="Calibri"/>
              </a:rPr>
              <a:t>Python 3.9+  (tick 'Add to PATH' during install)     |     Git (any recent version)     |     IBM watsonx.ai account (optional — demo mode works without)</a:t>
            </a:r>
          </a:p>
        </p:txBody>
      </p:sp>
      <p:sp>
        <p:nvSpPr>
          <p:cNvPr id="100142" name="Win1Click"/>
          <p:cNvSpPr txBox="1"/>
          <p:nvPr/>
        </p:nvSpPr>
        <p:spPr>
          <a:xfrm xmlns:a="http://schemas.openxmlformats.org/drawingml/2006/main">
            <a:off x="360000" y="1692000"/>
            <a:ext cx="5580000" cy="23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4FD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 b="0">
                <a:solidFill>
                  <a:srgbClr val="0A2A4A"/>
                </a:solidFill>
                <a:latin typeface="Calibri"/>
                <a:ea typeface="Calibri"/>
              </a:rPr>
              <a:t>OPTION 1 — WINDOWS ONE-CLICK (Recommended)</a:t>
            </a:r>
          </a:p>
          <a:p xmlns:a="http://schemas.openxmlformats.org/drawingml/2006/main">
            <a:r>
              <a:rPr lang="en-US" sz="1400" b="0">
                <a:solidFill>
                  <a:srgbClr val="0A2A4A"/>
                </a:solidFill>
                <a:latin typeface="Calibri"/>
                <a:ea typeface="Calibri"/>
              </a:rPr>
              <a:t>double-click  run_nutrition_ai.bat</a:t>
            </a:r>
          </a:p>
          <a:p xmlns:a="http://schemas.openxmlformats.org/drawingml/2006/main">
            <a:r>
              <a:rPr lang="en-US" sz="1400" b="0">
                <a:solidFill>
                  <a:srgbClr val="0A2A4A"/>
                </a:solidFill>
                <a:latin typeface="Calibri"/>
                <a:ea typeface="Calibri"/>
              </a:rPr>
              <a:t/>
            </a:r>
          </a:p>
          <a:p xmlns:a="http://schemas.openxmlformats.org/drawingml/2006/main">
            <a:r>
              <a:rPr lang="en-US" sz="1400" b="0">
                <a:solidFill>
                  <a:srgbClr val="0A2A4A"/>
                </a:solidFill>
                <a:latin typeface="Calibri"/>
                <a:ea typeface="Calibri"/>
              </a:rPr>
              <a:t>Automatic steps:</a:t>
            </a:r>
          </a:p>
          <a:p xmlns:a="http://schemas.openxmlformats.org/drawingml/2006/main">
            <a:r>
              <a:rPr lang="en-US" sz="1400" b="0">
                <a:solidFill>
                  <a:srgbClr val="0A2A4A"/>
                </a:solidFill>
                <a:latin typeface="Calibri"/>
                <a:ea typeface="Calibri"/>
              </a:rPr>
              <a:t>1. Checks Python installation</a:t>
            </a:r>
          </a:p>
          <a:p xmlns:a="http://schemas.openxmlformats.org/drawingml/2006/main">
            <a:r>
              <a:rPr lang="en-US" sz="1400" b="0">
                <a:solidFill>
                  <a:srgbClr val="0A2A4A"/>
                </a:solidFill>
                <a:latin typeface="Calibri"/>
                <a:ea typeface="Calibri"/>
              </a:rPr>
              <a:t>2. Creates virtual environment (nutrition_ai/venv/)</a:t>
            </a:r>
          </a:p>
          <a:p xmlns:a="http://schemas.openxmlformats.org/drawingml/2006/main">
            <a:r>
              <a:rPr lang="en-US" sz="1400" b="0">
                <a:solidFill>
                  <a:srgbClr val="0A2A4A"/>
                </a:solidFill>
                <a:latin typeface="Calibri"/>
                <a:ea typeface="Calibri"/>
              </a:rPr>
              <a:t>3. Installs all dependencies from requirements.txt</a:t>
            </a:r>
          </a:p>
          <a:p xmlns:a="http://schemas.openxmlformats.org/drawingml/2006/main">
            <a:r>
              <a:rPr lang="en-US" sz="1400" b="0">
                <a:solidFill>
                  <a:srgbClr val="0A2A4A"/>
                </a:solidFill>
                <a:latin typeface="Calibri"/>
                <a:ea typeface="Calibri"/>
              </a:rPr>
              <a:t>4. Copies .env.example to .env (first run only)</a:t>
            </a:r>
          </a:p>
          <a:p xmlns:a="http://schemas.openxmlformats.org/drawingml/2006/main">
            <a:r>
              <a:rPr lang="en-US" sz="1400" b="0">
                <a:solidFill>
                  <a:srgbClr val="0A2A4A"/>
                </a:solidFill>
                <a:latin typeface="Calibri"/>
                <a:ea typeface="Calibri"/>
              </a:rPr>
              <a:t>5. Starts Flask at http://localhost:5000</a:t>
            </a:r>
          </a:p>
          <a:p xmlns:a="http://schemas.openxmlformats.org/drawingml/2006/main">
            <a:r>
              <a:rPr lang="en-US" sz="1400" b="0">
                <a:solidFill>
                  <a:srgbClr val="0A2A4A"/>
                </a:solidFill>
                <a:latin typeface="Calibri"/>
                <a:ea typeface="Calibri"/>
              </a:rPr>
              <a:t>6. Opens your default browser automatically</a:t>
            </a:r>
          </a:p>
        </p:txBody>
      </p:sp>
      <p:sp>
        <p:nvSpPr>
          <p:cNvPr id="100143" name="Manual"/>
          <p:cNvSpPr txBox="1"/>
          <p:nvPr/>
        </p:nvSpPr>
        <p:spPr>
          <a:xfrm xmlns:a="http://schemas.openxmlformats.org/drawingml/2006/main">
            <a:off x="6300000" y="1692000"/>
            <a:ext cx="5400000" cy="23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5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 b="0">
                <a:solidFill>
                  <a:srgbClr val="0A2A4A"/>
                </a:solidFill>
                <a:latin typeface="Courier New"/>
                <a:ea typeface="Courier New"/>
              </a:rPr>
              <a:t>OPTION 2 — MANUAL (Windows / macOS / Linux)</a:t>
            </a:r>
          </a:p>
          <a:p xmlns:a="http://schemas.openxmlformats.org/drawingml/2006/main">
            <a:r>
              <a:rPr lang="en-US" sz="1300" b="0">
                <a:solidFill>
                  <a:srgbClr val="0A2A4A"/>
                </a:solidFill>
                <a:latin typeface="Courier New"/>
                <a:ea typeface="Courier New"/>
              </a:rPr>
              <a:t/>
            </a:r>
          </a:p>
          <a:p xmlns:a="http://schemas.openxmlformats.org/drawingml/2006/main">
            <a:r>
              <a:rPr lang="en-US" sz="1300" b="0">
                <a:solidFill>
                  <a:srgbClr val="0A2A4A"/>
                </a:solidFill>
                <a:latin typeface="Courier New"/>
                <a:ea typeface="Courier New"/>
              </a:rPr>
              <a:t>git clone https://github.com/YogeshRaje/NutritionAgent-IBMBob.git</a:t>
            </a:r>
          </a:p>
          <a:p xmlns:a="http://schemas.openxmlformats.org/drawingml/2006/main">
            <a:r>
              <a:rPr lang="en-US" sz="1300" b="0">
                <a:solidFill>
                  <a:srgbClr val="0A2A4A"/>
                </a:solidFill>
                <a:latin typeface="Courier New"/>
                <a:ea typeface="Courier New"/>
              </a:rPr>
              <a:t>cd NutritionAgent-IBMBob</a:t>
            </a:r>
          </a:p>
          <a:p xmlns:a="http://schemas.openxmlformats.org/drawingml/2006/main">
            <a:r>
              <a:rPr lang="en-US" sz="1300" b="0">
                <a:solidFill>
                  <a:srgbClr val="0A2A4A"/>
                </a:solidFill>
                <a:latin typeface="Courier New"/>
                <a:ea typeface="Courier New"/>
              </a:rPr>
              <a:t>python -m venv venv</a:t>
            </a:r>
          </a:p>
          <a:p xmlns:a="http://schemas.openxmlformats.org/drawingml/2006/main">
            <a:r>
              <a:rPr lang="en-US" sz="1300" b="0">
                <a:solidFill>
                  <a:srgbClr val="0A2A4A"/>
                </a:solidFill>
                <a:latin typeface="Courier New"/>
                <a:ea typeface="Courier New"/>
              </a:rPr>
              <a:t>venv\Scripts\activate          # Windows</a:t>
            </a:r>
          </a:p>
          <a:p xmlns:a="http://schemas.openxmlformats.org/drawingml/2006/main">
            <a:r>
              <a:rPr lang="en-US" sz="1300" b="0">
                <a:solidFill>
                  <a:srgbClr val="0A2A4A"/>
                </a:solidFill>
                <a:latin typeface="Courier New"/>
                <a:ea typeface="Courier New"/>
              </a:rPr>
              <a:t>source venv/bin/activate       # macOS/Linux</a:t>
            </a:r>
          </a:p>
          <a:p xmlns:a="http://schemas.openxmlformats.org/drawingml/2006/main">
            <a:r>
              <a:rPr lang="en-US" sz="1300" b="0">
                <a:solidFill>
                  <a:srgbClr val="0A2A4A"/>
                </a:solidFill>
                <a:latin typeface="Courier New"/>
                <a:ea typeface="Courier New"/>
              </a:rPr>
              <a:t>pip install -r nutrition_ai/requirements.txt</a:t>
            </a:r>
          </a:p>
          <a:p xmlns:a="http://schemas.openxmlformats.org/drawingml/2006/main">
            <a:r>
              <a:rPr lang="en-US" sz="1300" b="0">
                <a:solidFill>
                  <a:srgbClr val="0A2A4A"/>
                </a:solidFill>
                <a:latin typeface="Courier New"/>
                <a:ea typeface="Courier New"/>
              </a:rPr>
              <a:t>cp nutrition_ai/.env.example nutrition_ai/.env</a:t>
            </a:r>
          </a:p>
          <a:p xmlns:a="http://schemas.openxmlformats.org/drawingml/2006/main">
            <a:r>
              <a:rPr lang="en-US" sz="1300" b="0">
                <a:solidFill>
                  <a:srgbClr val="0A2A4A"/>
                </a:solidFill>
                <a:latin typeface="Courier New"/>
                <a:ea typeface="Courier New"/>
              </a:rPr>
              <a:t># Edit .env with IBM watsonx.ai credentials</a:t>
            </a:r>
          </a:p>
          <a:p xmlns:a="http://schemas.openxmlformats.org/drawingml/2006/main">
            <a:r>
              <a:rPr lang="en-US" sz="1300" b="0">
                <a:solidFill>
                  <a:srgbClr val="0A2A4A"/>
                </a:solidFill>
                <a:latin typeface="Courier New"/>
                <a:ea typeface="Courier New"/>
              </a:rPr>
              <a:t>cd nutrition_ai</a:t>
            </a:r>
          </a:p>
          <a:p xmlns:a="http://schemas.openxmlformats.org/drawingml/2006/main">
            <a:r>
              <a:rPr lang="en-US" sz="1300" b="0">
                <a:solidFill>
                  <a:srgbClr val="0A2A4A"/>
                </a:solidFill>
                <a:latin typeface="Courier New"/>
                <a:ea typeface="Courier New"/>
              </a:rPr>
              <a:t>python app.py</a:t>
            </a:r>
          </a:p>
          <a:p xmlns:a="http://schemas.openxmlformats.org/drawingml/2006/main">
            <a:r>
              <a:rPr lang="en-US" sz="1300" b="0">
                <a:solidFill>
                  <a:srgbClr val="0A2A4A"/>
                </a:solidFill>
                <a:latin typeface="Courier New"/>
                <a:ea typeface="Courier New"/>
              </a:rPr>
              <a:t/>
            </a:r>
          </a:p>
          <a:p xmlns:a="http://schemas.openxmlformats.org/drawingml/2006/main">
            <a:r>
              <a:rPr lang="en-US" sz="1300" b="0">
                <a:solidFill>
                  <a:srgbClr val="0A2A4A"/>
                </a:solidFill>
                <a:latin typeface="Courier New"/>
                <a:ea typeface="Courier New"/>
              </a:rPr>
              <a:t>Open http://localhost:5000</a:t>
            </a:r>
          </a:p>
        </p:txBody>
      </p:sp>
      <p:sp>
        <p:nvSpPr>
          <p:cNvPr id="100144" name="IBMHead"/>
          <p:cNvSpPr txBox="1"/>
          <p:nvPr/>
        </p:nvSpPr>
        <p:spPr>
          <a:xfrm xmlns:a="http://schemas.openxmlformats.org/drawingml/2006/main">
            <a:off x="360000" y="4212000"/>
            <a:ext cx="11340000" cy="25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4ADA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500" b="1">
                <a:solidFill>
                  <a:srgbClr val="FFFFFF"/>
                </a:solidFill>
                <a:latin typeface="Calibri"/>
                <a:ea typeface="Calibri"/>
              </a:rPr>
              <a:t>IBM WATSONX.AI CONFIGURATION (.env file)</a:t>
            </a:r>
          </a:p>
        </p:txBody>
      </p:sp>
      <p:sp>
        <p:nvSpPr>
          <p:cNvPr id="100145" name="IBMEnv"/>
          <p:cNvSpPr txBox="1"/>
          <p:nvPr/>
        </p:nvSpPr>
        <p:spPr>
          <a:xfrm xmlns:a="http://schemas.openxmlformats.org/drawingml/2006/main">
            <a:off x="360000" y="4500000"/>
            <a:ext cx="11340000" cy="108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0D0D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 b="0">
                <a:solidFill>
                  <a:srgbClr val="00FF41"/>
                </a:solidFill>
                <a:latin typeface="Courier New"/>
                <a:ea typeface="Courier New"/>
              </a:rPr>
              <a:t>WATSONX_API_KEY=your_actual_api_key_here</a:t>
            </a:r>
          </a:p>
          <a:p xmlns:a="http://schemas.openxmlformats.org/drawingml/2006/main">
            <a:r>
              <a:rPr lang="en-US" sz="1400" b="0">
                <a:solidFill>
                  <a:srgbClr val="00FF41"/>
                </a:solidFill>
                <a:latin typeface="Courier New"/>
                <a:ea typeface="Courier New"/>
              </a:rPr>
              <a:t>WATSONX_PROJECT_ID=your_project_id_here</a:t>
            </a:r>
          </a:p>
          <a:p xmlns:a="http://schemas.openxmlformats.org/drawingml/2006/main">
            <a:r>
              <a:rPr lang="en-US" sz="1400" b="0">
                <a:solidFill>
                  <a:srgbClr val="00FF41"/>
                </a:solidFill>
                <a:latin typeface="Courier New"/>
                <a:ea typeface="Courier New"/>
              </a:rPr>
              <a:t>WATSONX_URL=https://us-south.ml.cloud.ibm.com</a:t>
            </a:r>
          </a:p>
          <a:p xmlns:a="http://schemas.openxmlformats.org/drawingml/2006/main">
            <a:r>
              <a:rPr lang="en-US" sz="1400" b="0">
                <a:solidFill>
                  <a:srgbClr val="00FF41"/>
                </a:solidFill>
                <a:latin typeface="Courier New"/>
                <a:ea typeface="Courier New"/>
              </a:rPr>
              <a:t>FLASK_SECRET_KEY=change_me_in_production</a:t>
            </a:r>
          </a:p>
          <a:p xmlns:a="http://schemas.openxmlformats.org/drawingml/2006/main">
            <a:r>
              <a:rPr lang="en-US" sz="1400" b="0">
                <a:solidFill>
                  <a:srgbClr val="00FF41"/>
                </a:solidFill>
                <a:latin typeface="Courier New"/>
                <a:ea typeface="Courier New"/>
              </a:rPr>
              <a:t>FLASK_DEBUG=False</a:t>
            </a:r>
          </a:p>
        </p:txBody>
      </p:sp>
      <p:sp>
        <p:nvSpPr>
          <p:cNvPr id="100146" name="DemoMode"/>
          <p:cNvSpPr txBox="1"/>
          <p:nvPr/>
        </p:nvSpPr>
        <p:spPr>
          <a:xfrm xmlns:a="http://schemas.openxmlformats.org/drawingml/2006/main">
            <a:off x="360000" y="5760000"/>
            <a:ext cx="11340000" cy="5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9E7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500" b="0">
                <a:solidFill>
                  <a:srgbClr val="0A2A4A"/>
                </a:solidFill>
                <a:latin typeface="Calibri"/>
                <a:ea typeface="Calibri"/>
              </a:rPr>
              <a:t>Without an API key: App runs in DEMO MODE — all 6 pipeline agents work fully. Only IBM Granite narrative shows a demo placeholder. Perfect for development and testing.</a:t>
            </a:r>
          </a:p>
        </p:txBody>
      </p:sp>
      <p:sp>
        <p:nvSpPr>
          <p:cNvPr id="100147" name="BottomBar"/>
          <p:cNvSpPr txBox="1"/>
          <p:nvPr/>
        </p:nvSpPr>
        <p:spPr>
          <a:xfrm xmlns:a="http://schemas.openxmlformats.org/drawingml/2006/main">
            <a:off x="0" y="6660000"/>
            <a:ext cx="12193200" cy="18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6B3C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 sz="800">
              <a:solidFill>
                <a:srgbClr val="1A6B3C"/>
              </a:solidFill>
            </a:endParaRPr>
          </a:p>
        </p:txBody>
      </p:sp>
    </p:spTree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/>
      <p:sp>
        <p:nvSpPr>
          <p:cNvPr id="100148" name="HeaderBar"/>
          <p:cNvSpPr txBox="1"/>
          <p:nvPr/>
        </p:nvSpPr>
        <p:spPr>
          <a:xfrm xmlns:a="http://schemas.openxmlformats.org/drawingml/2006/main">
            <a:off x="0" y="0"/>
            <a:ext cx="12193200" cy="72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2A4A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 sz="800">
              <a:solidFill>
                <a:srgbClr val="0A2A4A"/>
              </a:solidFill>
            </a:endParaRPr>
          </a:p>
        </p:txBody>
      </p:sp>
      <p:sp>
        <p:nvSpPr>
          <p:cNvPr id="100149" name="SlideTitle"/>
          <p:cNvSpPr txBox="1"/>
          <p:nvPr/>
        </p:nvSpPr>
        <p:spPr>
          <a:xfrm xmlns:a="http://schemas.openxmlformats.org/drawingml/2006/main">
            <a:off x="540000" y="108000"/>
            <a:ext cx="10080000" cy="50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3200" b="1">
                <a:solidFill>
                  <a:srgbClr val="FFFFFF"/>
                </a:solidFill>
                <a:latin typeface="Calibri"/>
                <a:ea typeface="Calibri"/>
              </a:rPr>
              <a:t>Project File Structure</a:t>
            </a:r>
          </a:p>
        </p:txBody>
      </p:sp>
      <p:sp>
        <p:nvSpPr>
          <p:cNvPr id="100150" name="SlideNum"/>
          <p:cNvSpPr txBox="1"/>
          <p:nvPr/>
        </p:nvSpPr>
        <p:spPr>
          <a:xfrm xmlns:a="http://schemas.openxmlformats.org/drawingml/2006/main">
            <a:off x="10800000" y="144000"/>
            <a:ext cx="720000" cy="3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000" b="0">
                <a:solidFill>
                  <a:srgbClr val="7EC8E3"/>
                </a:solidFill>
                <a:latin typeface="Calibri"/>
                <a:ea typeface="Calibri"/>
              </a:rPr>
              <a:t>13</a:t>
            </a:r>
          </a:p>
        </p:txBody>
      </p:sp>
      <p:sp>
        <p:nvSpPr>
          <p:cNvPr id="100151" name="Tree"/>
          <p:cNvSpPr txBox="1"/>
          <p:nvPr/>
        </p:nvSpPr>
        <p:spPr>
          <a:xfrm xmlns:a="http://schemas.openxmlformats.org/drawingml/2006/main">
            <a:off x="360000" y="864000"/>
            <a:ext cx="11340000" cy="540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0D0D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 b="0">
                <a:solidFill>
                  <a:srgbClr val="00FF41"/>
                </a:solidFill>
                <a:latin typeface="Courier New"/>
                <a:ea typeface="Courier New"/>
              </a:rPr>
              <a:t>NutritionAgent-IBMBob/</a:t>
            </a:r>
          </a:p>
          <a:p xmlns:a="http://schemas.openxmlformats.org/drawingml/2006/main">
            <a:r>
              <a:rPr lang="en-US" sz="1300" b="0">
                <a:solidFill>
                  <a:srgbClr val="00FF41"/>
                </a:solidFill>
                <a:latin typeface="Courier New"/>
                <a:ea typeface="Courier New"/>
              </a:rPr>
              <a:t>|</a:t>
            </a:r>
          </a:p>
          <a:p xmlns:a="http://schemas.openxmlformats.org/drawingml/2006/main">
            <a:r>
              <a:rPr lang="en-US" sz="1300" b="0">
                <a:solidFill>
                  <a:srgbClr val="00FF41"/>
                </a:solidFill>
                <a:latin typeface="Courier New"/>
                <a:ea typeface="Courier New"/>
              </a:rPr>
              <a:t>+-- run_nutrition_ai.bat        Windows one-click launcher</a:t>
            </a:r>
          </a:p>
          <a:p xmlns:a="http://schemas.openxmlformats.org/drawingml/2006/main">
            <a:r>
              <a:rPr lang="en-US" sz="1300" b="0">
                <a:solidFill>
                  <a:srgbClr val="00FF41"/>
                </a:solidFill>
                <a:latin typeface="Courier New"/>
                <a:ea typeface="Courier New"/>
              </a:rPr>
              <a:t>+-- install_dependencies.bat   Install packages only</a:t>
            </a:r>
          </a:p>
          <a:p xmlns:a="http://schemas.openxmlformats.org/drawingml/2006/main">
            <a:r>
              <a:rPr lang="en-US" sz="1300" b="0">
                <a:solidFill>
                  <a:srgbClr val="00FF41"/>
                </a:solidFill>
                <a:latin typeface="Courier New"/>
                <a:ea typeface="Courier New"/>
              </a:rPr>
              <a:t>+-- README.md                  Full documentation</a:t>
            </a:r>
          </a:p>
          <a:p xmlns:a="http://schemas.openxmlformats.org/drawingml/2006/main">
            <a:r>
              <a:rPr lang="en-US" sz="1300" b="0">
                <a:solidFill>
                  <a:srgbClr val="00FF41"/>
                </a:solidFill>
                <a:latin typeface="Courier New"/>
                <a:ea typeface="Courier New"/>
              </a:rPr>
              <a:t>+-- requirements.txt           Root-level pip install entry</a:t>
            </a:r>
          </a:p>
          <a:p xmlns:a="http://schemas.openxmlformats.org/drawingml/2006/main">
            <a:r>
              <a:rPr lang="en-US" sz="1300" b="0">
                <a:solidFill>
                  <a:srgbClr val="00FF41"/>
                </a:solidFill>
                <a:latin typeface="Courier New"/>
                <a:ea typeface="Courier New"/>
              </a:rPr>
              <a:t>+-- .gitignore                 Python / venv / secrets rules</a:t>
            </a:r>
          </a:p>
          <a:p xmlns:a="http://schemas.openxmlformats.org/drawingml/2006/main">
            <a:r>
              <a:rPr lang="en-US" sz="1300" b="0">
                <a:solidFill>
                  <a:srgbClr val="00FF41"/>
                </a:solidFill>
                <a:latin typeface="Courier New"/>
                <a:ea typeface="Courier New"/>
              </a:rPr>
              <a:t>+-- LICENSE                    MIT License</a:t>
            </a:r>
          </a:p>
          <a:p xmlns:a="http://schemas.openxmlformats.org/drawingml/2006/main">
            <a:r>
              <a:rPr lang="en-US" sz="1300" b="0">
                <a:solidFill>
                  <a:srgbClr val="00FF41"/>
                </a:solidFill>
                <a:latin typeface="Courier New"/>
                <a:ea typeface="Courier New"/>
              </a:rPr>
              <a:t>|</a:t>
            </a:r>
          </a:p>
          <a:p xmlns:a="http://schemas.openxmlformats.org/drawingml/2006/main">
            <a:r>
              <a:rPr lang="en-US" sz="1300" b="0">
                <a:solidFill>
                  <a:srgbClr val="00FF41"/>
                </a:solidFill>
                <a:latin typeface="Courier New"/>
                <a:ea typeface="Courier New"/>
              </a:rPr>
              <a:t>+-- nutrition_ai/</a:t>
            </a:r>
          </a:p>
          <a:p xmlns:a="http://schemas.openxmlformats.org/drawingml/2006/main">
            <a:r>
              <a:rPr lang="en-US" sz="1300" b="0">
                <a:solidFill>
                  <a:srgbClr val="00FF41"/>
                </a:solidFill>
                <a:latin typeface="Courier New"/>
                <a:ea typeface="Courier New"/>
              </a:rPr>
              <a:t>    |</a:t>
            </a:r>
          </a:p>
          <a:p xmlns:a="http://schemas.openxmlformats.org/drawingml/2006/main">
            <a:r>
              <a:rPr lang="en-US" sz="1300" b="0">
                <a:solidFill>
                  <a:srgbClr val="00FF41"/>
                </a:solidFill>
                <a:latin typeface="Courier New"/>
                <a:ea typeface="Courier New"/>
              </a:rPr>
              <a:t>    +-- app.py                 Flask web server &amp; 5 REST API endpoints</a:t>
            </a:r>
          </a:p>
          <a:p xmlns:a="http://schemas.openxmlformats.org/drawingml/2006/main">
            <a:r>
              <a:rPr lang="en-US" sz="1300" b="0">
                <a:solidFill>
                  <a:srgbClr val="00FF41"/>
                </a:solidFill>
                <a:latin typeface="Courier New"/>
                <a:ea typeface="Courier New"/>
              </a:rPr>
              <a:t>    +-- agent.py               6-agent IBM Granite pipeline</a:t>
            </a:r>
          </a:p>
          <a:p xmlns:a="http://schemas.openxmlformats.org/drawingml/2006/main">
            <a:r>
              <a:rPr lang="en-US" sz="1300" b="0">
                <a:solidFill>
                  <a:srgbClr val="00FF41"/>
                </a:solidFill>
                <a:latin typeface="Courier New"/>
                <a:ea typeface="Courier New"/>
              </a:rPr>
              <a:t>    +-- guardrails.py          AI ethics, safety &amp; medical disclaimer</a:t>
            </a:r>
          </a:p>
          <a:p xmlns:a="http://schemas.openxmlformats.org/drawingml/2006/main">
            <a:r>
              <a:rPr lang="en-US" sz="1300" b="0">
                <a:solidFill>
                  <a:srgbClr val="00FF41"/>
                </a:solidFill>
                <a:latin typeface="Courier New"/>
                <a:ea typeface="Courier New"/>
              </a:rPr>
              <a:t>    +-- requirements.txt       Python dependencies</a:t>
            </a:r>
          </a:p>
          <a:p xmlns:a="http://schemas.openxmlformats.org/drawingml/2006/main">
            <a:r>
              <a:rPr lang="en-US" sz="1300" b="0">
                <a:solidFill>
                  <a:srgbClr val="00FF41"/>
                </a:solidFill>
                <a:latin typeface="Courier New"/>
                <a:ea typeface="Courier New"/>
              </a:rPr>
              <a:t>    +-- .env.example           Credentials template (copy to .env)</a:t>
            </a:r>
          </a:p>
          <a:p xmlns:a="http://schemas.openxmlformats.org/drawingml/2006/main">
            <a:r>
              <a:rPr lang="en-US" sz="1300" b="0">
                <a:solidFill>
                  <a:srgbClr val="00FF41"/>
                </a:solidFill>
                <a:latin typeface="Courier New"/>
                <a:ea typeface="Courier New"/>
              </a:rPr>
              <a:t>    |</a:t>
            </a:r>
          </a:p>
          <a:p xmlns:a="http://schemas.openxmlformats.org/drawingml/2006/main">
            <a:r>
              <a:rPr lang="en-US" sz="1300" b="0">
                <a:solidFill>
                  <a:srgbClr val="00FF41"/>
                </a:solidFill>
                <a:latin typeface="Courier New"/>
                <a:ea typeface="Courier New"/>
              </a:rPr>
              <a:t>    +-- templates/</a:t>
            </a:r>
          </a:p>
          <a:p xmlns:a="http://schemas.openxmlformats.org/drawingml/2006/main">
            <a:r>
              <a:rPr lang="en-US" sz="1300" b="0">
                <a:solidFill>
                  <a:srgbClr val="00FF41"/>
                </a:solidFill>
                <a:latin typeface="Courier New"/>
                <a:ea typeface="Courier New"/>
              </a:rPr>
              <a:t>    |   +-- index.html         Full dark-theme single-page web app</a:t>
            </a:r>
          </a:p>
          <a:p xmlns:a="http://schemas.openxmlformats.org/drawingml/2006/main">
            <a:r>
              <a:rPr lang="en-US" sz="1300" b="0">
                <a:solidFill>
                  <a:srgbClr val="00FF41"/>
                </a:solidFill>
                <a:latin typeface="Courier New"/>
                <a:ea typeface="Courier New"/>
              </a:rPr>
              <a:t>    |</a:t>
            </a:r>
          </a:p>
          <a:p xmlns:a="http://schemas.openxmlformats.org/drawingml/2006/main">
            <a:r>
              <a:rPr lang="en-US" sz="1300" b="0">
                <a:solidFill>
                  <a:srgbClr val="00FF41"/>
                </a:solidFill>
                <a:latin typeface="Courier New"/>
                <a:ea typeface="Courier New"/>
              </a:rPr>
              <a:t>    +-- saved_plans/</a:t>
            </a:r>
          </a:p>
          <a:p xmlns:a="http://schemas.openxmlformats.org/drawingml/2006/main">
            <a:r>
              <a:rPr lang="en-US" sz="1300" b="0">
                <a:solidFill>
                  <a:srgbClr val="00FF41"/>
                </a:solidFill>
                <a:latin typeface="Courier New"/>
                <a:ea typeface="Courier New"/>
              </a:rPr>
              <a:t>        +-- .gitkeep                       Folder tracked by git</a:t>
            </a:r>
          </a:p>
          <a:p xmlns:a="http://schemas.openxmlformats.org/drawingml/2006/main">
            <a:r>
              <a:rPr lang="en-US" sz="1300" b="0">
                <a:solidFill>
                  <a:srgbClr val="00FF41"/>
                </a:solidFill>
                <a:latin typeface="Courier New"/>
                <a:ea typeface="Courier New"/>
              </a:rPr>
              <a:t>        +-- nutrition_plan_demo_user_sample.md   Sample plan output</a:t>
            </a:r>
          </a:p>
        </p:txBody>
      </p:sp>
      <p:sp>
        <p:nvSpPr>
          <p:cNvPr id="100152" name="BottomBar"/>
          <p:cNvSpPr txBox="1"/>
          <p:nvPr/>
        </p:nvSpPr>
        <p:spPr>
          <a:xfrm xmlns:a="http://schemas.openxmlformats.org/drawingml/2006/main">
            <a:off x="0" y="6660000"/>
            <a:ext cx="12193200" cy="18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6B3C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 sz="800">
              <a:solidFill>
                <a:srgbClr val="1A6B3C"/>
              </a:solidFill>
            </a:endParaRPr>
          </a:p>
        </p:txBody>
      </p:sp>
    </p:spTree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0A2A4A"/>
        </a:solidFill>
      </p:bgPr>
    </p:bg>
    <p:spTree>
      <p:nvGrpSpPr>
        <p:cNvPr id="1" name=""/>
        <p:cNvGrpSpPr/>
        <p:nvPr/>
      </p:nvGrpSpPr>
      <p:grpSpPr/>
      <p:sp>
        <p:nvSpPr>
          <p:cNvPr id="100153" name="TopAccent"/>
          <p:cNvSpPr txBox="1"/>
          <p:nvPr/>
        </p:nvSpPr>
        <p:spPr>
          <a:xfrm xmlns:a="http://schemas.openxmlformats.org/drawingml/2006/main">
            <a:off x="0" y="0"/>
            <a:ext cx="12193200" cy="14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6B3C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 sz="800">
              <a:solidFill>
                <a:srgbClr val="1A6B3C"/>
              </a:solidFill>
            </a:endParaRPr>
          </a:p>
        </p:txBody>
      </p:sp>
      <p:sp>
        <p:nvSpPr>
          <p:cNvPr id="100154" name="Title"/>
          <p:cNvSpPr txBox="1"/>
          <p:nvPr/>
        </p:nvSpPr>
        <p:spPr>
          <a:xfrm xmlns:a="http://schemas.openxmlformats.org/drawingml/2006/main">
            <a:off x="720000" y="540000"/>
            <a:ext cx="10800000" cy="72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4000" b="1">
                <a:solidFill>
                  <a:srgbClr val="FFFFFF"/>
                </a:solidFill>
                <a:latin typeface="Calibri"/>
                <a:ea typeface="Calibri"/>
              </a:rPr>
              <a:t>Summary &amp; Key Takeaways</a:t>
            </a:r>
          </a:p>
        </p:txBody>
      </p:sp>
      <p:sp>
        <p:nvSpPr>
          <p:cNvPr id="100155" name="T1"/>
          <p:cNvSpPr txBox="1"/>
          <p:nvPr/>
        </p:nvSpPr>
        <p:spPr>
          <a:xfrm xmlns:a="http://schemas.openxmlformats.org/drawingml/2006/main">
            <a:off x="720000" y="1440000"/>
            <a:ext cx="10800000" cy="3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3A5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800" b="0">
                <a:solidFill>
                  <a:srgbClr val="7EC8E3"/>
                </a:solidFill>
                <a:latin typeface="Calibri"/>
                <a:ea typeface="Calibri"/>
              </a:rPr>
              <a:t>6-Phase Agentic AI SDLC implemented with IBM Granite-13b-Instruct via watsonx.ai</a:t>
            </a:r>
          </a:p>
        </p:txBody>
      </p:sp>
      <p:sp>
        <p:nvSpPr>
          <p:cNvPr id="100156" name="T2"/>
          <p:cNvSpPr txBox="1"/>
          <p:nvPr/>
        </p:nvSpPr>
        <p:spPr>
          <a:xfrm xmlns:a="http://schemas.openxmlformats.org/drawingml/2006/main">
            <a:off x="720000" y="1836000"/>
            <a:ext cx="10800000" cy="3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3A5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800" b="0">
                <a:solidFill>
                  <a:srgbClr val="A8E6CF"/>
                </a:solidFill>
                <a:latin typeface="Calibri"/>
                <a:ea typeface="Calibri"/>
              </a:rPr>
              <a:t>Medically-aware planning for Diabetes, Blood Pressure, and other chronic conditions</a:t>
            </a:r>
          </a:p>
        </p:txBody>
      </p:sp>
      <p:sp>
        <p:nvSpPr>
          <p:cNvPr id="100157" name="T3"/>
          <p:cNvSpPr txBox="1"/>
          <p:nvPr/>
        </p:nvSpPr>
        <p:spPr>
          <a:xfrm xmlns:a="http://schemas.openxmlformats.org/drawingml/2006/main">
            <a:off x="720000" y="2232000"/>
            <a:ext cx="10800000" cy="3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3A5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800" b="0">
                <a:solidFill>
                  <a:srgbClr val="FFB347"/>
                </a:solidFill>
                <a:latin typeface="Calibri"/>
                <a:ea typeface="Calibri"/>
              </a:rPr>
              <a:t>Built-in AI ethics layer — HAM principles, 15+ blocked topics, prompt injection prevention</a:t>
            </a:r>
          </a:p>
        </p:txBody>
      </p:sp>
      <p:sp>
        <p:nvSpPr>
          <p:cNvPr id="100158" name="T4"/>
          <p:cNvSpPr txBox="1"/>
          <p:nvPr/>
        </p:nvSpPr>
        <p:spPr>
          <a:xfrm xmlns:a="http://schemas.openxmlformats.org/drawingml/2006/main">
            <a:off x="720000" y="2628000"/>
            <a:ext cx="10800000" cy="3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3A5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800" b="0">
                <a:solidFill>
                  <a:srgbClr val="DDA0DD"/>
                </a:solidFill>
                <a:latin typeface="Calibri"/>
                <a:ea typeface="Calibri"/>
              </a:rPr>
              <a:t>Full REST API (5 endpoints) — generate plan, chat, list plans, retrieve plan, health check</a:t>
            </a:r>
          </a:p>
        </p:txBody>
      </p:sp>
      <p:sp>
        <p:nvSpPr>
          <p:cNvPr id="100159" name="T5"/>
          <p:cNvSpPr txBox="1"/>
          <p:nvPr/>
        </p:nvSpPr>
        <p:spPr>
          <a:xfrm xmlns:a="http://schemas.openxmlformats.org/drawingml/2006/main">
            <a:off x="720000" y="3024000"/>
            <a:ext cx="10800000" cy="3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3A5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800" b="0">
                <a:solidFill>
                  <a:srgbClr val="FFDD57"/>
                </a:solidFill>
                <a:latin typeface="Calibri"/>
                <a:ea typeface="Calibri"/>
              </a:rPr>
              <a:t>Auto-saves every plan as a dated .md file — downloadable and versioned output</a:t>
            </a:r>
          </a:p>
        </p:txBody>
      </p:sp>
      <p:sp>
        <p:nvSpPr>
          <p:cNvPr id="100160" name="T6"/>
          <p:cNvSpPr txBox="1"/>
          <p:nvPr/>
        </p:nvSpPr>
        <p:spPr>
          <a:xfrm xmlns:a="http://schemas.openxmlformats.org/drawingml/2006/main">
            <a:off x="720000" y="3420000"/>
            <a:ext cx="10800000" cy="3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3A5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800" b="0">
                <a:solidFill>
                  <a:srgbClr val="7EC8E3"/>
                </a:solidFill>
                <a:latin typeface="Calibri"/>
                <a:ea typeface="Calibri"/>
              </a:rPr>
              <a:t>Demo mode — fully functional without IBM API key for development and testing</a:t>
            </a:r>
          </a:p>
        </p:txBody>
      </p:sp>
      <p:sp>
        <p:nvSpPr>
          <p:cNvPr id="100161" name="T7"/>
          <p:cNvSpPr txBox="1"/>
          <p:nvPr/>
        </p:nvSpPr>
        <p:spPr>
          <a:xfrm xmlns:a="http://schemas.openxmlformats.org/drawingml/2006/main">
            <a:off x="720000" y="3816000"/>
            <a:ext cx="10800000" cy="3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3A5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800" b="0">
                <a:solidFill>
                  <a:srgbClr val="A8E6CF"/>
                </a:solidFill>
                <a:latin typeface="Calibri"/>
                <a:ea typeface="Calibri"/>
              </a:rPr>
              <a:t>One-click Windows launcher, cross-platform manual setup, GitHub ready</a:t>
            </a:r>
          </a:p>
        </p:txBody>
      </p:sp>
      <p:sp>
        <p:nvSpPr>
          <p:cNvPr id="100162" name="GHLine"/>
          <p:cNvSpPr txBox="1"/>
          <p:nvPr/>
        </p:nvSpPr>
        <p:spPr>
          <a:xfrm xmlns:a="http://schemas.openxmlformats.org/drawingml/2006/main">
            <a:off x="720000" y="4392000"/>
            <a:ext cx="10800000" cy="36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6B3C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800" b="1">
                <a:solidFill>
                  <a:srgbClr val="FFFFFF"/>
                </a:solidFill>
                <a:latin typeface="Calibri"/>
                <a:ea typeface="Calibri"/>
              </a:rPr>
              <a:t>GitHub Repository:  https://github.com/YogeshRaje/NutritionAgent-IBMBob</a:t>
            </a:r>
          </a:p>
        </p:txBody>
      </p:sp>
      <p:sp>
        <p:nvSpPr>
          <p:cNvPr id="100163" name="MedDisc"/>
          <p:cNvSpPr txBox="1"/>
          <p:nvPr/>
        </p:nvSpPr>
        <p:spPr>
          <a:xfrm xmlns:a="http://schemas.openxmlformats.org/drawingml/2006/main">
            <a:off x="720000" y="4968000"/>
            <a:ext cx="10800000" cy="108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0A0A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 b="0">
                <a:solidFill>
                  <a:srgbClr val="FF8080"/>
                </a:solidFill>
                <a:latin typeface="Calibri"/>
                <a:ea typeface="Calibri"/>
              </a:rPr>
              <a:t>MEDICAL DISCLAIMER: This application is for informational and educational purposes only. It does NOT constitute professional medical advice, diagnosis, or treatment. Always consult a qualified healthcare provider before making significant dietary changes, especially if you have diabetes, blood pressure, heart disease, kidney disease, or any other chronic condition.</a:t>
            </a:r>
          </a:p>
        </p:txBody>
      </p:sp>
      <p:sp>
        <p:nvSpPr>
          <p:cNvPr id="100164" name="Footer"/>
          <p:cNvSpPr txBox="1"/>
          <p:nvPr/>
        </p:nvSpPr>
        <p:spPr>
          <a:xfrm xmlns:a="http://schemas.openxmlformats.org/drawingml/2006/main">
            <a:off x="720000" y="6228000"/>
            <a:ext cx="10800000" cy="28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500" b="0">
                <a:solidFill>
                  <a:srgbClr val="7EC8E3"/>
                </a:solidFill>
                <a:latin typeface="Calibri"/>
                <a:ea typeface="Calibri"/>
              </a:rPr>
              <a:t>Built with IBM Granite LLM  ·  IBM watsonx.ai  ·  Flask  ·  Python</a:t>
            </a:r>
          </a:p>
        </p:txBody>
      </p:sp>
      <p:sp>
        <p:nvSpPr>
          <p:cNvPr id="100165" name="BottomBar"/>
          <p:cNvSpPr txBox="1"/>
          <p:nvPr/>
        </p:nvSpPr>
        <p:spPr>
          <a:xfrm xmlns:a="http://schemas.openxmlformats.org/drawingml/2006/main">
            <a:off x="0" y="6660000"/>
            <a:ext cx="12193200" cy="18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6B3C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 sz="800">
              <a:solidFill>
                <a:srgbClr val="1A6B3C"/>
              </a:solidFill>
            </a:endParaRP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>
          <a:solidFill>
            <a:schemeClr val="phClr"/>
          </a:solidFill>
        </a:ln>
        <a:ln w="12700" cap="flat">
          <a:solidFill>
            <a:schemeClr val="phClr"/>
          </a:solidFill>
        </a:ln>
        <a:ln w="19050" cap="flat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ap:Properties xmlns:ap="http://schemas.openxmlformats.org/officeDocument/2006/extended-properties">
  <ap:Application>OfficeCLI/1.0.144</ap:Application>
</ap: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creator>OfficeCLI</dc:creator>
  <dcterms:created xsi:type="dcterms:W3CDTF">2026-10-13T09:06:32Z</dcterms:created>
  <cp:lastModifiedBy>OfficeCLI</cp:lastModifiedBy>
  <dcterms:modified xsi:type="dcterms:W3CDTF">2026-10-13T09:06:32Z</dcterms:modified>
</cp:coreProperties>
</file>

<file path=docProps/custom.xml><?xml version="1.0" encoding="utf-8"?>
<op:Properties xmlns:op="http://schemas.openxmlformats.org/officeDocument/2006/custom-properties">
  <op:property fmtid="{D5CDD505-2E9C-101B-9397-08002B2CF9AE}" pid="2" name="OfficeCLI.Version">
    <vt:lpwstr xmlns:vt="http://schemas.openxmlformats.org/officeDocument/2006/docPropsVTypes">1.0.157</vt:lpwstr>
  </op:property>
  <op:property fmtid="{D5CDD505-2E9C-101B-9397-08002B2CF9AE}" pid="3" name="OfficeCLI.LastModified">
    <vt:lpwstr xmlns:vt="http://schemas.openxmlformats.org/officeDocument/2006/docPropsVTypes">2026-10-13T09:13:49Z</vt:lpwstr>
  </op:property>
</op:Properties>
</file>